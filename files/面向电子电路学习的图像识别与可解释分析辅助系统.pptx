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2" r:id="rId7"/>
    <p:sldId id="264" r:id="rId8"/>
    <p:sldId id="265" r:id="rId9"/>
    <p:sldId id="266" r:id="rId10"/>
    <p:sldId id="270" r:id="rId11"/>
    <p:sldId id="271" r:id="rId12"/>
    <p:sldId id="274" r:id="rId13"/>
    <p:sldId id="276" r:id="rId14"/>
    <p:sldId id="277" r:id="rId15"/>
  </p:sldIdLst>
  <p:sldSz cx="16256000" cy="9144000"/>
  <p:notesSz cx="9144000" cy="16256000"/>
  <p:embeddedFontLst>
    <p:embeddedFont>
      <p:font typeface="Quattrocento Sans" panose="020B0502050000020003" pitchFamily="34" charset="0"/>
      <p:regular r:id="rId17"/>
    </p:embeddedFont>
    <p:embeddedFont>
      <p:font typeface="微软雅黑" panose="020B0503020204020204" pitchFamily="34" charset="-122"/>
      <p:regular r:id="rId18"/>
      <p:bold r:id="rId1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0" d="100"/>
          <a:sy n="50" d="100"/>
        </p:scale>
        <p:origin x="24" y="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5" name="Text 2"/>
          <p:cNvSpPr/>
          <p:nvPr/>
        </p:nvSpPr>
        <p:spPr>
          <a:xfrm>
            <a:off x="762000" y="1778000"/>
            <a:ext cx="5080000" cy="355600"/>
          </a:xfrm>
          <a:prstGeom prst="rect">
            <a:avLst/>
          </a:prstGeom>
          <a:noFill/>
        </p:spPr>
        <p:txBody>
          <a:bodyPr wrap="none" lIns="0" tIns="0" rIns="0" bIns="0" rtlCol="0" anchor="ctr"/>
          <a:lstStyle/>
          <a:p>
            <a:pPr>
              <a:lnSpc>
                <a:spcPct val="100000"/>
              </a:lnSpc>
            </a:pPr>
            <a:r>
              <a:rPr lang="en-US" kern="0" spc="3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THESIS PROPOSAL DEFENSE</a:t>
            </a:r>
          </a:p>
        </p:txBody>
      </p:sp>
      <p:sp>
        <p:nvSpPr>
          <p:cNvPr id="6" name="Text 3"/>
          <p:cNvSpPr/>
          <p:nvPr/>
        </p:nvSpPr>
        <p:spPr>
          <a:xfrm>
            <a:off x="762000" y="2311400"/>
            <a:ext cx="13970000" cy="1473200"/>
          </a:xfrm>
          <a:prstGeom prst="rect">
            <a:avLst/>
          </a:prstGeom>
          <a:noFill/>
        </p:spPr>
        <p:txBody>
          <a:bodyPr wrap="none" lIns="0" tIns="0" rIns="0" bIns="0" rtlCol="0" anchor="t"/>
          <a:lstStyle/>
          <a:p>
            <a:pPr algn="l">
              <a:lnSpc>
                <a:spcPct val="100000"/>
              </a:lnSpc>
            </a:pPr>
            <a:r>
              <a:rPr lang="en-US" sz="5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sym typeface="+mn-ea"/>
              </a:rPr>
              <a:t>面向电子电路学习的</a:t>
            </a:r>
          </a:p>
          <a:p>
            <a:pPr algn="l">
              <a:lnSpc>
                <a:spcPct val="100000"/>
              </a:lnSpc>
            </a:pPr>
            <a:r>
              <a:rPr lang="en-US" sz="5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sym typeface="+mn-ea"/>
              </a:rPr>
              <a:t>图像识别与可解释分析辅助系统</a:t>
            </a:r>
            <a:endParaRPr lang="en-US" sz="5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a:p>
            <a:pPr>
              <a:lnSpc>
                <a:spcPct val="100000"/>
              </a:lnSpc>
            </a:pPr>
            <a:endParaRPr lang="en-US" sz="5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9" name="Shape 6"/>
          <p:cNvSpPr/>
          <p:nvPr/>
        </p:nvSpPr>
        <p:spPr>
          <a:xfrm>
            <a:off x="0" y="5461000"/>
            <a:ext cx="16256000" cy="3683000"/>
          </a:xfrm>
          <a:prstGeom prst="rect">
            <a:avLst/>
          </a:prstGeom>
          <a:solidFill>
            <a:srgbClr val="1A4A7A"/>
          </a:solidFill>
        </p:spPr>
      </p:sp>
      <p:sp>
        <p:nvSpPr>
          <p:cNvPr id="10" name="Text 7"/>
          <p:cNvSpPr/>
          <p:nvPr/>
        </p:nvSpPr>
        <p:spPr>
          <a:xfrm>
            <a:off x="762000" y="6070600"/>
            <a:ext cx="5080000" cy="355600"/>
          </a:xfrm>
          <a:prstGeom prst="rect">
            <a:avLst/>
          </a:prstGeom>
          <a:noFill/>
        </p:spPr>
        <p:txBody>
          <a:bodyPr wrap="none" lIns="0" tIns="0" rIns="0" bIns="0" rtlCol="0" anchor="ctr"/>
          <a:lstStyle/>
          <a:p>
            <a:pPr>
              <a:lnSpc>
                <a:spcPct val="100000"/>
              </a:lnSpc>
            </a:pPr>
            <a:r>
              <a:rPr lang="en-US" sz="24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答辩人</a:t>
            </a:r>
            <a:r>
              <a:rPr 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刘勃源</a:t>
            </a:r>
            <a:endParaRPr 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Text 8"/>
          <p:cNvSpPr/>
          <p:nvPr/>
        </p:nvSpPr>
        <p:spPr>
          <a:xfrm>
            <a:off x="762000" y="6553200"/>
            <a:ext cx="6350000" cy="355600"/>
          </a:xfrm>
          <a:prstGeom prst="rect">
            <a:avLst/>
          </a:prstGeom>
          <a:noFill/>
        </p:spPr>
        <p:txBody>
          <a:bodyPr wrap="none" lIns="0" tIns="0" rIns="0" bIns="0" rtlCol="0" anchor="ctr"/>
          <a:lstStyle/>
          <a:p>
            <a:pPr>
              <a:lnSpc>
                <a:spcPct val="100000"/>
              </a:lnSpc>
            </a:pPr>
            <a:r>
              <a:rPr lang="en-US" sz="24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指导教师</a:t>
            </a:r>
            <a:r>
              <a:rPr 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陈一帅</a:t>
            </a:r>
            <a:endParaRPr 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Text 9"/>
          <p:cNvSpPr/>
          <p:nvPr/>
        </p:nvSpPr>
        <p:spPr>
          <a:xfrm>
            <a:off x="762000" y="7061200"/>
            <a:ext cx="7620000" cy="355600"/>
          </a:xfrm>
          <a:prstGeom prst="rect">
            <a:avLst/>
          </a:prstGeom>
          <a:noFill/>
        </p:spPr>
        <p:txBody>
          <a:bodyPr wrap="none" lIns="0" tIns="0" rIns="0" bIns="0" rtlCol="0" anchor="ctr"/>
          <a:lstStyle/>
          <a:p>
            <a:pPr>
              <a:lnSpc>
                <a:spcPct val="100000"/>
              </a:lnSpc>
            </a:pPr>
            <a:r>
              <a:rPr lang="en-US" sz="2000" dirty="0">
                <a:solidFill>
                  <a:srgbClr val="FFFFFF">
                    <a:alpha val="73333"/>
                  </a:srgbClr>
                </a:solidFill>
                <a:latin typeface="微软雅黑" panose="020B0503020204020204" pitchFamily="34" charset="-122"/>
                <a:ea typeface="微软雅黑" panose="020B0503020204020204" pitchFamily="34" charset="-122"/>
                <a:cs typeface="微软雅黑" panose="020B0503020204020204" pitchFamily="34" charset="-122"/>
              </a:rPr>
              <a:t>电子信息工程学院 </a:t>
            </a:r>
          </a:p>
        </p:txBody>
      </p:sp>
      <p:sp>
        <p:nvSpPr>
          <p:cNvPr id="13" name="Text 10"/>
          <p:cNvSpPr/>
          <p:nvPr/>
        </p:nvSpPr>
        <p:spPr>
          <a:xfrm>
            <a:off x="762000" y="7569200"/>
            <a:ext cx="3810000" cy="304800"/>
          </a:xfrm>
          <a:prstGeom prst="rect">
            <a:avLst/>
          </a:prstGeom>
          <a:noFill/>
        </p:spPr>
        <p:txBody>
          <a:bodyPr wrap="none" lIns="0" tIns="0" rIns="0" bIns="0" rtlCol="0" anchor="ctr"/>
          <a:lstStyle/>
          <a:p>
            <a:pPr>
              <a:lnSpc>
                <a:spcPct val="100000"/>
              </a:lnSpc>
            </a:pPr>
            <a:r>
              <a:rPr lang="en-US" dirty="0">
                <a:solidFill>
                  <a:srgbClr val="FFFFFF">
                    <a:alpha val="53333"/>
                  </a:srgbClr>
                </a:solidFill>
                <a:latin typeface="微软雅黑" panose="020B0503020204020204" pitchFamily="34" charset="-122"/>
                <a:ea typeface="微软雅黑" panose="020B0503020204020204" pitchFamily="34" charset="-122"/>
                <a:cs typeface="微软雅黑" panose="020B0503020204020204" pitchFamily="34" charset="-122"/>
              </a:rPr>
              <a:t>2026年6月</a:t>
            </a:r>
          </a:p>
        </p:txBody>
      </p:sp>
      <p:sp>
        <p:nvSpPr>
          <p:cNvPr id="14" name="Text 11"/>
          <p:cNvSpPr/>
          <p:nvPr/>
        </p:nvSpPr>
        <p:spPr>
          <a:xfrm>
            <a:off x="10160000" y="7950200"/>
            <a:ext cx="5334000" cy="762000"/>
          </a:xfrm>
          <a:prstGeom prst="rect">
            <a:avLst/>
          </a:prstGeom>
          <a:noFill/>
        </p:spPr>
        <p:txBody>
          <a:bodyPr wrap="none" lIns="0" tIns="0" rIns="0" bIns="0" rtlCol="0" anchor="ctr"/>
          <a:lstStyle/>
          <a:p>
            <a:pPr algn="r">
              <a:lnSpc>
                <a:spcPct val="100000"/>
              </a:lnSpc>
            </a:pPr>
            <a:r>
              <a:rPr lang="en-US" sz="4800" dirty="0">
                <a:solidFill>
                  <a:srgbClr val="FFFFFF">
                    <a:alpha val="3137"/>
                  </a:srgbClr>
                </a:solidFill>
                <a:latin typeface="Quattrocento Sans" panose="020B0502050000020003" pitchFamily="34" charset="0"/>
                <a:ea typeface="Quattrocento Sans" panose="020B0502050000020003" pitchFamily="34" charset="-122"/>
                <a:cs typeface="Quattrocento Sans" panose="020B0502050000020003" pitchFamily="34" charset="-120"/>
              </a:rPr>
              <a:t>PROPOSAL</a:t>
            </a:r>
            <a:endParaRPr lang="en-US" sz="1600" dirty="0"/>
          </a:p>
        </p:txBody>
      </p:sp>
      <p:pic>
        <p:nvPicPr>
          <p:cNvPr id="95" name="图片 94"/>
          <p:cNvPicPr>
            <a:picLocks noChangeAspect="1"/>
          </p:cNvPicPr>
          <p:nvPr/>
        </p:nvPicPr>
        <p:blipFill>
          <a:blip r:embed="rId3" cstate="print">
            <a:extLst>
              <a:ext uri="{28A0092B-C50C-407E-A947-70E740481C1C}">
                <a14:useLocalDpi xmlns:a14="http://schemas.microsoft.com/office/drawing/2010/main" val="0"/>
              </a:ext>
            </a:extLst>
          </a:blip>
          <a:srcRect t="33889" b="33027"/>
          <a:stretch>
            <a:fillRect/>
          </a:stretch>
        </p:blipFill>
        <p:spPr>
          <a:xfrm>
            <a:off x="11417935" y="52070"/>
            <a:ext cx="4653280" cy="154051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Text 1"/>
          <p:cNvSpPr/>
          <p:nvPr/>
        </p:nvSpPr>
        <p:spPr>
          <a:xfrm>
            <a:off x="762000" y="596900"/>
            <a:ext cx="3810000" cy="635000"/>
          </a:xfrm>
          <a:prstGeom prst="rect">
            <a:avLst/>
          </a:prstGeom>
          <a:noFill/>
        </p:spPr>
        <p:txBody>
          <a:bodyPr wrap="none" lIns="0" tIns="0" rIns="0" bIns="0" rtlCol="0" anchor="ctr"/>
          <a:lstStyle/>
          <a:p>
            <a:pPr>
              <a:lnSpc>
                <a:spcPct val="100000"/>
              </a:lnSpc>
            </a:pPr>
            <a:r>
              <a:rPr lang="en-US" sz="4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目录</a:t>
            </a:r>
          </a:p>
        </p:txBody>
      </p:sp>
      <p:sp>
        <p:nvSpPr>
          <p:cNvPr id="4" name="Text 2"/>
          <p:cNvSpPr/>
          <p:nvPr/>
        </p:nvSpPr>
        <p:spPr>
          <a:xfrm>
            <a:off x="762000" y="1282700"/>
            <a:ext cx="3810000" cy="304800"/>
          </a:xfrm>
          <a:prstGeom prst="rect">
            <a:avLst/>
          </a:prstGeom>
          <a:noFill/>
        </p:spPr>
        <p:txBody>
          <a:bodyPr wrap="none" lIns="0" tIns="0" rIns="0" bIns="0" rtlCol="0" anchor="ctr"/>
          <a:lstStyle/>
          <a:p>
            <a:pPr>
              <a:lnSpc>
                <a:spcPct val="100000"/>
              </a:lnSpc>
            </a:pPr>
            <a:r>
              <a:rPr lang="en-US" sz="1600"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TABLE OF CONTENTS</a:t>
            </a:r>
            <a:endParaRPr lang="en-US" sz="1600" dirty="0">
              <a:latin typeface="微软雅黑" panose="020B0503020204020204" pitchFamily="34" charset="-122"/>
              <a:ea typeface="微软雅黑" panose="020B0503020204020204" pitchFamily="34" charset="-122"/>
            </a:endParaRPr>
          </a:p>
        </p:txBody>
      </p:sp>
      <p:sp>
        <p:nvSpPr>
          <p:cNvPr id="5" name="Shape 3"/>
          <p:cNvSpPr/>
          <p:nvPr/>
        </p:nvSpPr>
        <p:spPr>
          <a:xfrm>
            <a:off x="762000" y="1752600"/>
            <a:ext cx="14732000" cy="12700"/>
          </a:xfrm>
          <a:prstGeom prst="rect">
            <a:avLst/>
          </a:prstGeom>
          <a:solidFill>
            <a:srgbClr val="E0E0E0"/>
          </a:solidFill>
        </p:spPr>
      </p:sp>
      <p:sp>
        <p:nvSpPr>
          <p:cNvPr id="6" name="Text 4"/>
          <p:cNvSpPr/>
          <p:nvPr/>
        </p:nvSpPr>
        <p:spPr>
          <a:xfrm>
            <a:off x="1223645" y="2501900"/>
            <a:ext cx="762000" cy="635000"/>
          </a:xfrm>
          <a:prstGeom prst="rect">
            <a:avLst/>
          </a:prstGeom>
          <a:noFill/>
        </p:spPr>
        <p:txBody>
          <a:bodyPr wrap="none" lIns="0" tIns="0" rIns="0" bIns="0" rtlCol="0" anchor="ctr"/>
          <a:lstStyle/>
          <a:p>
            <a:pPr>
              <a:lnSpc>
                <a:spcPct val="100000"/>
              </a:lnSpc>
            </a:pPr>
            <a:r>
              <a:rPr lang="en-US" sz="32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01</a:t>
            </a:r>
          </a:p>
        </p:txBody>
      </p:sp>
      <p:sp>
        <p:nvSpPr>
          <p:cNvPr id="7" name="Text 5"/>
          <p:cNvSpPr/>
          <p:nvPr/>
        </p:nvSpPr>
        <p:spPr>
          <a:xfrm>
            <a:off x="2450465" y="2559050"/>
            <a:ext cx="8890000" cy="355600"/>
          </a:xfrm>
          <a:prstGeom prst="rect">
            <a:avLst/>
          </a:prstGeom>
          <a:noFill/>
        </p:spPr>
        <p:txBody>
          <a:bodyPr wrap="none" lIns="0" tIns="0" rIns="0" bIns="0" rtlCol="0" anchor="ctr"/>
          <a:lstStyle/>
          <a:p>
            <a:pPr>
              <a:lnSpc>
                <a:spcPct val="100000"/>
              </a:lnSpc>
            </a:pPr>
            <a:r>
              <a:rPr lang="en-US" sz="32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项目背景与问题提出</a:t>
            </a:r>
          </a:p>
        </p:txBody>
      </p:sp>
      <p:sp>
        <p:nvSpPr>
          <p:cNvPr id="8" name="Text 6"/>
          <p:cNvSpPr/>
          <p:nvPr/>
        </p:nvSpPr>
        <p:spPr>
          <a:xfrm>
            <a:off x="2450465" y="2940050"/>
            <a:ext cx="8890000" cy="254000"/>
          </a:xfrm>
          <a:prstGeom prst="rect">
            <a:avLst/>
          </a:prstGeom>
          <a:noFill/>
        </p:spPr>
        <p:txBody>
          <a:bodyPr wrap="none" lIns="0" tIns="0" rIns="0" bIns="0" rtlCol="0" anchor="ctr"/>
          <a:lstStyle/>
          <a:p>
            <a:pPr>
              <a:lnSpc>
                <a:spcPct val="100000"/>
              </a:lnSpc>
            </a:pPr>
            <a:r>
              <a:rPr lang="en-US"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Background and Problem Statement</a:t>
            </a:r>
          </a:p>
        </p:txBody>
      </p:sp>
      <p:sp>
        <p:nvSpPr>
          <p:cNvPr id="9" name="Shape 7"/>
          <p:cNvSpPr/>
          <p:nvPr/>
        </p:nvSpPr>
        <p:spPr>
          <a:xfrm>
            <a:off x="762000" y="3219450"/>
            <a:ext cx="14732000" cy="12700"/>
          </a:xfrm>
          <a:prstGeom prst="rect">
            <a:avLst/>
          </a:prstGeom>
          <a:solidFill>
            <a:srgbClr val="E0E0E0"/>
          </a:solidFill>
        </p:spPr>
      </p:sp>
      <p:sp>
        <p:nvSpPr>
          <p:cNvPr id="10" name="Text 8"/>
          <p:cNvSpPr/>
          <p:nvPr/>
        </p:nvSpPr>
        <p:spPr>
          <a:xfrm>
            <a:off x="1223645" y="3543300"/>
            <a:ext cx="762000" cy="635000"/>
          </a:xfrm>
          <a:prstGeom prst="rect">
            <a:avLst/>
          </a:prstGeom>
          <a:noFill/>
        </p:spPr>
        <p:txBody>
          <a:bodyPr wrap="none" lIns="0" tIns="0" rIns="0" bIns="0" rtlCol="0" anchor="ctr"/>
          <a:lstStyle/>
          <a:p>
            <a:pPr>
              <a:lnSpc>
                <a:spcPct val="100000"/>
              </a:lnSpc>
            </a:pPr>
            <a:r>
              <a:rPr lang="en-US" sz="32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02</a:t>
            </a:r>
          </a:p>
        </p:txBody>
      </p:sp>
      <p:sp>
        <p:nvSpPr>
          <p:cNvPr id="11" name="Text 9"/>
          <p:cNvSpPr/>
          <p:nvPr/>
        </p:nvSpPr>
        <p:spPr>
          <a:xfrm>
            <a:off x="2450465" y="3600450"/>
            <a:ext cx="8890000" cy="355600"/>
          </a:xfrm>
          <a:prstGeom prst="rect">
            <a:avLst/>
          </a:prstGeom>
          <a:noFill/>
        </p:spPr>
        <p:txBody>
          <a:bodyPr wrap="none" lIns="0" tIns="0" rIns="0" bIns="0" rtlCol="0" anchor="ctr"/>
          <a:lstStyle/>
          <a:p>
            <a:pPr>
              <a:lnSpc>
                <a:spcPct val="100000"/>
              </a:lnSpc>
            </a:pPr>
            <a:r>
              <a:rPr lang="zh-CN" altLang="en-US" sz="3200" b="1">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项目目标</a:t>
            </a:r>
            <a:endParaRPr lang="zh-CN" altLang="en-US" sz="32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12" name="Text 10"/>
          <p:cNvSpPr/>
          <p:nvPr/>
        </p:nvSpPr>
        <p:spPr>
          <a:xfrm>
            <a:off x="2450465" y="3981450"/>
            <a:ext cx="8890000" cy="254000"/>
          </a:xfrm>
          <a:prstGeom prst="rect">
            <a:avLst/>
          </a:prstGeom>
          <a:noFill/>
        </p:spPr>
        <p:txBody>
          <a:bodyPr wrap="none" lIns="0" tIns="0" rIns="0" bIns="0" rtlCol="0" anchor="ctr"/>
          <a:lstStyle/>
          <a:p>
            <a:pPr>
              <a:lnSpc>
                <a:spcPct val="100000"/>
              </a:lnSpc>
            </a:pPr>
            <a:r>
              <a:rPr lang="en-US">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Project Objectives</a:t>
            </a:r>
            <a:endParaRPr lang="en-US"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13" name="Shape 11"/>
          <p:cNvSpPr/>
          <p:nvPr/>
        </p:nvSpPr>
        <p:spPr>
          <a:xfrm>
            <a:off x="762000" y="4260850"/>
            <a:ext cx="14732000" cy="12700"/>
          </a:xfrm>
          <a:prstGeom prst="rect">
            <a:avLst/>
          </a:prstGeom>
          <a:solidFill>
            <a:srgbClr val="E0E0E0"/>
          </a:solidFill>
        </p:spPr>
      </p:sp>
      <p:sp>
        <p:nvSpPr>
          <p:cNvPr id="14" name="Text 12"/>
          <p:cNvSpPr/>
          <p:nvPr/>
        </p:nvSpPr>
        <p:spPr>
          <a:xfrm>
            <a:off x="1223645" y="4584700"/>
            <a:ext cx="762000" cy="635000"/>
          </a:xfrm>
          <a:prstGeom prst="rect">
            <a:avLst/>
          </a:prstGeom>
          <a:noFill/>
        </p:spPr>
        <p:txBody>
          <a:bodyPr wrap="none" lIns="0" tIns="0" rIns="0" bIns="0" rtlCol="0" anchor="ctr"/>
          <a:lstStyle/>
          <a:p>
            <a:pPr>
              <a:lnSpc>
                <a:spcPct val="100000"/>
              </a:lnSpc>
            </a:pPr>
            <a:r>
              <a:rPr lang="en-US" sz="32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03</a:t>
            </a:r>
          </a:p>
        </p:txBody>
      </p:sp>
      <p:sp>
        <p:nvSpPr>
          <p:cNvPr id="15" name="Text 13"/>
          <p:cNvSpPr/>
          <p:nvPr/>
        </p:nvSpPr>
        <p:spPr>
          <a:xfrm>
            <a:off x="2450465" y="4641850"/>
            <a:ext cx="8890000" cy="355600"/>
          </a:xfrm>
          <a:prstGeom prst="rect">
            <a:avLst/>
          </a:prstGeom>
          <a:noFill/>
        </p:spPr>
        <p:txBody>
          <a:bodyPr wrap="none" lIns="0" tIns="0" rIns="0" bIns="0" rtlCol="0" anchor="ctr"/>
          <a:lstStyle/>
          <a:p>
            <a:pPr>
              <a:lnSpc>
                <a:spcPct val="100000"/>
              </a:lnSpc>
            </a:pPr>
            <a:r>
              <a:rPr lang="en-US" sz="32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技术路线与系统架构</a:t>
            </a:r>
          </a:p>
        </p:txBody>
      </p:sp>
      <p:sp>
        <p:nvSpPr>
          <p:cNvPr id="16" name="Text 14"/>
          <p:cNvSpPr/>
          <p:nvPr/>
        </p:nvSpPr>
        <p:spPr>
          <a:xfrm>
            <a:off x="2450465" y="5022850"/>
            <a:ext cx="8890000" cy="254000"/>
          </a:xfrm>
          <a:prstGeom prst="rect">
            <a:avLst/>
          </a:prstGeom>
          <a:noFill/>
        </p:spPr>
        <p:txBody>
          <a:bodyPr wrap="none" lIns="0" tIns="0" rIns="0" bIns="0" rtlCol="0" anchor="ctr"/>
          <a:lstStyle/>
          <a:p>
            <a:pPr>
              <a:lnSpc>
                <a:spcPct val="100000"/>
              </a:lnSpc>
            </a:pPr>
            <a:r>
              <a:rPr lang="en-US"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Technical Route and System Architecture</a:t>
            </a:r>
          </a:p>
        </p:txBody>
      </p:sp>
      <p:sp>
        <p:nvSpPr>
          <p:cNvPr id="17" name="Shape 15"/>
          <p:cNvSpPr/>
          <p:nvPr/>
        </p:nvSpPr>
        <p:spPr>
          <a:xfrm>
            <a:off x="762000" y="5302250"/>
            <a:ext cx="14732000" cy="12700"/>
          </a:xfrm>
          <a:prstGeom prst="rect">
            <a:avLst/>
          </a:prstGeom>
          <a:solidFill>
            <a:srgbClr val="E0E0E0"/>
          </a:solidFill>
        </p:spPr>
      </p:sp>
      <p:sp>
        <p:nvSpPr>
          <p:cNvPr id="18" name="Text 16"/>
          <p:cNvSpPr/>
          <p:nvPr/>
        </p:nvSpPr>
        <p:spPr>
          <a:xfrm>
            <a:off x="1223645" y="5626100"/>
            <a:ext cx="762000" cy="635000"/>
          </a:xfrm>
          <a:prstGeom prst="rect">
            <a:avLst/>
          </a:prstGeom>
          <a:noFill/>
        </p:spPr>
        <p:txBody>
          <a:bodyPr wrap="none" lIns="0" tIns="0" rIns="0" bIns="0" rtlCol="0" anchor="ctr"/>
          <a:lstStyle/>
          <a:p>
            <a:pPr>
              <a:lnSpc>
                <a:spcPct val="100000"/>
              </a:lnSpc>
            </a:pPr>
            <a:r>
              <a:rPr lang="en-US" sz="32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04</a:t>
            </a:r>
          </a:p>
        </p:txBody>
      </p:sp>
      <p:sp>
        <p:nvSpPr>
          <p:cNvPr id="19" name="Text 17"/>
          <p:cNvSpPr/>
          <p:nvPr/>
        </p:nvSpPr>
        <p:spPr>
          <a:xfrm>
            <a:off x="2450465" y="5683250"/>
            <a:ext cx="8890000" cy="355600"/>
          </a:xfrm>
          <a:prstGeom prst="rect">
            <a:avLst/>
          </a:prstGeom>
          <a:noFill/>
        </p:spPr>
        <p:txBody>
          <a:bodyPr wrap="none" lIns="0" tIns="0" rIns="0" bIns="0" rtlCol="0" anchor="ctr"/>
          <a:lstStyle/>
          <a:p>
            <a:pPr>
              <a:lnSpc>
                <a:spcPct val="100000"/>
              </a:lnSpc>
            </a:pPr>
            <a:r>
              <a:rPr lang="en-US" sz="32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核心创新点</a:t>
            </a:r>
          </a:p>
        </p:txBody>
      </p:sp>
      <p:sp>
        <p:nvSpPr>
          <p:cNvPr id="20" name="Text 18"/>
          <p:cNvSpPr/>
          <p:nvPr/>
        </p:nvSpPr>
        <p:spPr>
          <a:xfrm>
            <a:off x="2450465" y="6064250"/>
            <a:ext cx="8890000" cy="254000"/>
          </a:xfrm>
          <a:prstGeom prst="rect">
            <a:avLst/>
          </a:prstGeom>
          <a:noFill/>
        </p:spPr>
        <p:txBody>
          <a:bodyPr wrap="none" lIns="0" tIns="0" rIns="0" bIns="0" rtlCol="0" anchor="ctr"/>
          <a:lstStyle/>
          <a:p>
            <a:pPr>
              <a:lnSpc>
                <a:spcPct val="100000"/>
              </a:lnSpc>
            </a:pPr>
            <a:r>
              <a:rPr lang="en-US"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Core Innovations</a:t>
            </a:r>
          </a:p>
        </p:txBody>
      </p:sp>
      <p:sp>
        <p:nvSpPr>
          <p:cNvPr id="21" name="Shape 19"/>
          <p:cNvSpPr/>
          <p:nvPr/>
        </p:nvSpPr>
        <p:spPr>
          <a:xfrm>
            <a:off x="762000" y="6343650"/>
            <a:ext cx="14732000" cy="12700"/>
          </a:xfrm>
          <a:prstGeom prst="rect">
            <a:avLst/>
          </a:prstGeom>
          <a:solidFill>
            <a:srgbClr val="E0E0E0"/>
          </a:solidFill>
        </p:spPr>
      </p:sp>
      <p:sp>
        <p:nvSpPr>
          <p:cNvPr id="22" name="Text 20"/>
          <p:cNvSpPr/>
          <p:nvPr/>
        </p:nvSpPr>
        <p:spPr>
          <a:xfrm>
            <a:off x="1223645" y="6667500"/>
            <a:ext cx="762000" cy="635000"/>
          </a:xfrm>
          <a:prstGeom prst="rect">
            <a:avLst/>
          </a:prstGeom>
          <a:noFill/>
        </p:spPr>
        <p:txBody>
          <a:bodyPr wrap="none" lIns="0" tIns="0" rIns="0" bIns="0" rtlCol="0" anchor="ctr"/>
          <a:lstStyle/>
          <a:p>
            <a:pPr>
              <a:lnSpc>
                <a:spcPct val="100000"/>
              </a:lnSpc>
            </a:pPr>
            <a:r>
              <a:rPr lang="en-US" sz="32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05</a:t>
            </a:r>
          </a:p>
        </p:txBody>
      </p:sp>
      <p:sp>
        <p:nvSpPr>
          <p:cNvPr id="23" name="Text 21"/>
          <p:cNvSpPr/>
          <p:nvPr/>
        </p:nvSpPr>
        <p:spPr>
          <a:xfrm>
            <a:off x="2450465" y="6724650"/>
            <a:ext cx="8890000" cy="355600"/>
          </a:xfrm>
          <a:prstGeom prst="rect">
            <a:avLst/>
          </a:prstGeom>
          <a:noFill/>
        </p:spPr>
        <p:txBody>
          <a:bodyPr wrap="none" lIns="0" tIns="0" rIns="0" bIns="0" rtlCol="0" anchor="ctr"/>
          <a:lstStyle/>
          <a:p>
            <a:pPr>
              <a:lnSpc>
                <a:spcPct val="100000"/>
              </a:lnSpc>
            </a:pPr>
            <a:r>
              <a:rPr lang="zh-CN" altLang="en-US" sz="3200" b="1">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后续计划</a:t>
            </a:r>
            <a:endParaRPr lang="zh-CN" altLang="en-US" sz="32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24" name="Text 22"/>
          <p:cNvSpPr/>
          <p:nvPr/>
        </p:nvSpPr>
        <p:spPr>
          <a:xfrm>
            <a:off x="2450465" y="7105650"/>
            <a:ext cx="8890000" cy="254000"/>
          </a:xfrm>
          <a:prstGeom prst="rect">
            <a:avLst/>
          </a:prstGeom>
          <a:noFill/>
        </p:spPr>
        <p:txBody>
          <a:bodyPr wrap="none" lIns="0" tIns="0" rIns="0" bIns="0" rtlCol="0" anchor="ctr"/>
          <a:lstStyle/>
          <a:p>
            <a:pPr>
              <a:lnSpc>
                <a:spcPct val="100000"/>
              </a:lnSpc>
            </a:pPr>
            <a:r>
              <a:rPr lang="en-US">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Future Plan</a:t>
            </a:r>
            <a:endParaRPr lang="en-US"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25" name="Shape 23"/>
          <p:cNvSpPr/>
          <p:nvPr/>
        </p:nvSpPr>
        <p:spPr>
          <a:xfrm>
            <a:off x="762000" y="7385050"/>
            <a:ext cx="14732000" cy="12700"/>
          </a:xfrm>
          <a:prstGeom prst="rect">
            <a:avLst/>
          </a:prstGeom>
          <a:solidFill>
            <a:srgbClr val="E0E0E0"/>
          </a:solidFill>
        </p:spPr>
      </p:sp>
      <p:sp>
        <p:nvSpPr>
          <p:cNvPr id="26" name="Text 24"/>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2</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6096000" y="1778000"/>
            <a:ext cx="12700" cy="5588000"/>
          </a:xfrm>
          <a:prstGeom prst="rect">
            <a:avLst/>
          </a:prstGeom>
          <a:solidFill>
            <a:srgbClr val="E0E0E0"/>
          </a:solidFill>
        </p:spPr>
      </p:sp>
      <p:sp>
        <p:nvSpPr>
          <p:cNvPr id="4" name="Text 2"/>
          <p:cNvSpPr/>
          <p:nvPr/>
        </p:nvSpPr>
        <p:spPr>
          <a:xfrm>
            <a:off x="762000" y="2540000"/>
            <a:ext cx="4826000" cy="2540000"/>
          </a:xfrm>
          <a:prstGeom prst="rect">
            <a:avLst/>
          </a:prstGeom>
          <a:noFill/>
        </p:spPr>
        <p:txBody>
          <a:bodyPr wrap="none" lIns="0" tIns="0" rIns="0" bIns="0" rtlCol="0" anchor="ctr"/>
          <a:lstStyle/>
          <a:p>
            <a:pPr algn="ctr">
              <a:lnSpc>
                <a:spcPct val="100000"/>
              </a:lnSpc>
            </a:pPr>
            <a:r>
              <a:rPr lang="en-US" sz="120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01</a:t>
            </a:r>
          </a:p>
        </p:txBody>
      </p:sp>
      <p:sp>
        <p:nvSpPr>
          <p:cNvPr id="5" name="Text 3"/>
          <p:cNvSpPr/>
          <p:nvPr/>
        </p:nvSpPr>
        <p:spPr>
          <a:xfrm>
            <a:off x="762000" y="5080000"/>
            <a:ext cx="4826000" cy="355600"/>
          </a:xfrm>
          <a:prstGeom prst="rect">
            <a:avLst/>
          </a:prstGeom>
          <a:noFill/>
        </p:spPr>
        <p:txBody>
          <a:bodyPr wrap="none" lIns="0" tIns="0" rIns="0" bIns="0" rtlCol="0" anchor="ctr"/>
          <a:lstStyle/>
          <a:p>
            <a:pPr algn="ctr">
              <a:lnSpc>
                <a:spcPct val="100000"/>
              </a:lnSpc>
            </a:pPr>
            <a:r>
              <a:rPr lang="en-US"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CHAPTER ONE</a:t>
            </a:r>
          </a:p>
        </p:txBody>
      </p:sp>
      <p:sp>
        <p:nvSpPr>
          <p:cNvPr id="6" name="Text 4"/>
          <p:cNvSpPr/>
          <p:nvPr/>
        </p:nvSpPr>
        <p:spPr>
          <a:xfrm>
            <a:off x="6604000" y="2997200"/>
            <a:ext cx="8890000" cy="711200"/>
          </a:xfrm>
          <a:prstGeom prst="rect">
            <a:avLst/>
          </a:prstGeom>
          <a:noFill/>
        </p:spPr>
        <p:txBody>
          <a:bodyPr wrap="none" lIns="0" tIns="0" rIns="0" bIns="0" rtlCol="0" anchor="ctr"/>
          <a:lstStyle/>
          <a:p>
            <a:pPr>
              <a:lnSpc>
                <a:spcPct val="100000"/>
              </a:lnSpc>
            </a:pPr>
            <a:r>
              <a:rPr lang="en-US" sz="4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项目背景与问题提出</a:t>
            </a:r>
          </a:p>
        </p:txBody>
      </p:sp>
      <p:sp>
        <p:nvSpPr>
          <p:cNvPr id="7" name="Text 5"/>
          <p:cNvSpPr/>
          <p:nvPr/>
        </p:nvSpPr>
        <p:spPr>
          <a:xfrm>
            <a:off x="6604000" y="3835400"/>
            <a:ext cx="8890000" cy="355600"/>
          </a:xfrm>
          <a:prstGeom prst="rect">
            <a:avLst/>
          </a:prstGeom>
          <a:noFill/>
        </p:spPr>
        <p:txBody>
          <a:bodyPr wrap="none" lIns="0" tIns="0" rIns="0" bIns="0" rtlCol="0" anchor="ctr"/>
          <a:lstStyle/>
          <a:p>
            <a:pPr>
              <a:lnSpc>
                <a:spcPct val="100000"/>
              </a:lnSpc>
            </a:pPr>
            <a:r>
              <a:rPr lang="en-US" sz="2400"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Background and Problem Statement</a:t>
            </a:r>
          </a:p>
        </p:txBody>
      </p:sp>
      <p:sp>
        <p:nvSpPr>
          <p:cNvPr id="8" name="Shape 6"/>
          <p:cNvSpPr/>
          <p:nvPr/>
        </p:nvSpPr>
        <p:spPr>
          <a:xfrm>
            <a:off x="6604000" y="4572000"/>
            <a:ext cx="4064000" cy="12700"/>
          </a:xfrm>
          <a:prstGeom prst="rect">
            <a:avLst/>
          </a:prstGeom>
          <a:solidFill>
            <a:srgbClr val="E0E0E0"/>
          </a:solidFill>
        </p:spPr>
      </p:sp>
      <p:sp>
        <p:nvSpPr>
          <p:cNvPr id="11" name="Text 9"/>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3</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482600"/>
            <a:ext cx="10668000" cy="457200"/>
          </a:xfrm>
          <a:prstGeom prst="rect">
            <a:avLst/>
          </a:prstGeom>
          <a:noFill/>
        </p:spPr>
        <p:txBody>
          <a:bodyPr wrap="none" lIns="0" tIns="0" rIns="0" bIns="0" rtlCol="0" anchor="ctr"/>
          <a:lstStyle/>
          <a:p>
            <a:pPr>
              <a:lnSpc>
                <a:spcPct val="100000"/>
              </a:lnSpc>
            </a:pPr>
            <a:r>
              <a:rPr 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电路课程学习的核心痛点</a:t>
            </a:r>
          </a:p>
        </p:txBody>
      </p:sp>
      <p:sp>
        <p:nvSpPr>
          <p:cNvPr id="6" name="Shape 4"/>
          <p:cNvSpPr/>
          <p:nvPr/>
        </p:nvSpPr>
        <p:spPr>
          <a:xfrm>
            <a:off x="508000" y="1041400"/>
            <a:ext cx="15240000" cy="12700"/>
          </a:xfrm>
          <a:prstGeom prst="rect">
            <a:avLst/>
          </a:prstGeom>
          <a:solidFill>
            <a:srgbClr val="E0E0E0"/>
          </a:solidFill>
        </p:spPr>
      </p:sp>
      <p:sp>
        <p:nvSpPr>
          <p:cNvPr id="7" name="Text 5"/>
          <p:cNvSpPr/>
          <p:nvPr/>
        </p:nvSpPr>
        <p:spPr>
          <a:xfrm>
            <a:off x="508000" y="1168400"/>
            <a:ext cx="15240000" cy="355600"/>
          </a:xfrm>
          <a:prstGeom prst="rect">
            <a:avLst/>
          </a:prstGeom>
          <a:noFill/>
        </p:spPr>
        <p:txBody>
          <a:bodyPr wrap="none" lIns="0" tIns="0" rIns="0" bIns="0" rtlCol="0" anchor="ctr"/>
          <a:lstStyle/>
          <a:p>
            <a:pPr>
              <a:lnSpc>
                <a:spcPct val="100000"/>
              </a:lnSpc>
            </a:pPr>
            <a:r>
              <a:rPr lang="zh-CN" altLang="en-US">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电路分析、模拟电子技术、数字电子技术是电子信息类专业的核心基础课，其中学生在学习电路分析和模电课程时面临以下典型困境：</a:t>
            </a:r>
            <a:endParaRPr lang="zh-CN" altLang="en-US"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8" name="Shape 6"/>
          <p:cNvSpPr/>
          <p:nvPr/>
        </p:nvSpPr>
        <p:spPr>
          <a:xfrm>
            <a:off x="508000" y="1923415"/>
            <a:ext cx="381000" cy="381000"/>
          </a:xfrm>
          <a:prstGeom prst="ellipse">
            <a:avLst/>
          </a:prstGeom>
          <a:solidFill>
            <a:srgbClr val="1A4A7A"/>
          </a:solidFill>
        </p:spPr>
      </p:sp>
      <p:sp>
        <p:nvSpPr>
          <p:cNvPr id="9" name="Text 7"/>
          <p:cNvSpPr/>
          <p:nvPr/>
        </p:nvSpPr>
        <p:spPr>
          <a:xfrm>
            <a:off x="508000" y="1923415"/>
            <a:ext cx="381000" cy="381000"/>
          </a:xfrm>
          <a:prstGeom prst="rect">
            <a:avLst/>
          </a:prstGeom>
          <a:noFill/>
        </p:spPr>
        <p:txBody>
          <a:bodyPr wrap="none" lIns="0" tIns="0" rIns="0" bIns="0" rtlCol="0" anchor="ctr"/>
          <a:lstStyle/>
          <a:p>
            <a:pPr algn="ctr">
              <a:lnSpc>
                <a:spcPct val="100000"/>
              </a:lnSpc>
            </a:pPr>
            <a:r>
              <a:rPr lang="en-US" sz="2000" dirty="0">
                <a:solidFill>
                  <a:srgbClr val="FFFFFF"/>
                </a:solidFill>
                <a:latin typeface="Quattrocento Sans" panose="020B0502050000020003" pitchFamily="34" charset="0"/>
                <a:ea typeface="Quattrocento Sans" panose="020B0502050000020003" pitchFamily="34" charset="-122"/>
                <a:cs typeface="Quattrocento Sans" panose="020B0502050000020003" pitchFamily="34" charset="-120"/>
              </a:rPr>
              <a:t>1</a:t>
            </a:r>
          </a:p>
        </p:txBody>
      </p:sp>
      <p:sp>
        <p:nvSpPr>
          <p:cNvPr id="10" name="Text 8"/>
          <p:cNvSpPr/>
          <p:nvPr/>
        </p:nvSpPr>
        <p:spPr>
          <a:xfrm>
            <a:off x="1092200" y="1923415"/>
            <a:ext cx="14655800" cy="381000"/>
          </a:xfrm>
          <a:prstGeom prst="rect">
            <a:avLst/>
          </a:prstGeom>
          <a:noFill/>
        </p:spPr>
        <p:txBody>
          <a:bodyPr wrap="none" lIns="0" tIns="0" rIns="0" bIns="0" rtlCol="0" anchor="ctr"/>
          <a:lstStyle/>
          <a:p>
            <a:pPr>
              <a:lnSpc>
                <a:spcPct val="100000"/>
              </a:lnSpc>
            </a:pPr>
            <a:r>
              <a:rPr lang="zh-CN" alt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读不懂</a:t>
            </a:r>
            <a:r>
              <a:rPr 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电路</a:t>
            </a:r>
            <a:r>
              <a:rPr lang="zh-CN" alt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图</a:t>
            </a:r>
          </a:p>
        </p:txBody>
      </p:sp>
      <p:sp>
        <p:nvSpPr>
          <p:cNvPr id="11" name="Text 9"/>
          <p:cNvSpPr/>
          <p:nvPr/>
        </p:nvSpPr>
        <p:spPr>
          <a:xfrm>
            <a:off x="1092200" y="2355215"/>
            <a:ext cx="14655800" cy="558800"/>
          </a:xfrm>
          <a:prstGeom prst="rect">
            <a:avLst/>
          </a:prstGeom>
          <a:noFill/>
        </p:spPr>
        <p:txBody>
          <a:bodyPr wrap="square" lIns="0" tIns="0" rIns="0" bIns="0" rtlCol="0" anchor="ctr"/>
          <a:lstStyle/>
          <a:p>
            <a:pPr>
              <a:lnSpc>
                <a:spcPct val="160000"/>
              </a:lnSpc>
            </a:pPr>
            <a:r>
              <a:rPr lang="en-US" sz="2000"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能看懂单个元件符号，但难以抽象完整电路拓扑，无法将零散元件组织为可分析的整体结构。</a:t>
            </a:r>
          </a:p>
        </p:txBody>
      </p:sp>
      <p:sp>
        <p:nvSpPr>
          <p:cNvPr id="12" name="Shape 10"/>
          <p:cNvSpPr/>
          <p:nvPr/>
        </p:nvSpPr>
        <p:spPr>
          <a:xfrm>
            <a:off x="508000" y="3356610"/>
            <a:ext cx="15240000" cy="12700"/>
          </a:xfrm>
          <a:prstGeom prst="rect">
            <a:avLst/>
          </a:prstGeom>
          <a:solidFill>
            <a:srgbClr val="E0E0E0"/>
          </a:solidFill>
        </p:spPr>
      </p:sp>
      <p:sp>
        <p:nvSpPr>
          <p:cNvPr id="13" name="Shape 11"/>
          <p:cNvSpPr/>
          <p:nvPr/>
        </p:nvSpPr>
        <p:spPr>
          <a:xfrm>
            <a:off x="508000" y="3509010"/>
            <a:ext cx="381000" cy="381000"/>
          </a:xfrm>
          <a:prstGeom prst="ellipse">
            <a:avLst/>
          </a:prstGeom>
          <a:solidFill>
            <a:srgbClr val="5B9BD5"/>
          </a:solidFill>
        </p:spPr>
      </p:sp>
      <p:sp>
        <p:nvSpPr>
          <p:cNvPr id="14" name="Text 12"/>
          <p:cNvSpPr/>
          <p:nvPr/>
        </p:nvSpPr>
        <p:spPr>
          <a:xfrm>
            <a:off x="508000" y="3509010"/>
            <a:ext cx="381000" cy="381000"/>
          </a:xfrm>
          <a:prstGeom prst="rect">
            <a:avLst/>
          </a:prstGeom>
          <a:noFill/>
        </p:spPr>
        <p:txBody>
          <a:bodyPr wrap="none" lIns="0" tIns="0" rIns="0" bIns="0" rtlCol="0" anchor="ctr"/>
          <a:lstStyle/>
          <a:p>
            <a:pPr algn="ctr">
              <a:lnSpc>
                <a:spcPct val="100000"/>
              </a:lnSpc>
            </a:pPr>
            <a:r>
              <a:rPr lang="en-US" dirty="0">
                <a:solidFill>
                  <a:srgbClr val="FFFFFF"/>
                </a:solidFill>
                <a:latin typeface="Quattrocento Sans" panose="020B0502050000020003" pitchFamily="34" charset="0"/>
                <a:ea typeface="Quattrocento Sans" panose="020B0502050000020003" pitchFamily="34" charset="-122"/>
                <a:cs typeface="Quattrocento Sans" panose="020B0502050000020003" pitchFamily="34" charset="-120"/>
              </a:rPr>
              <a:t>2</a:t>
            </a:r>
          </a:p>
        </p:txBody>
      </p:sp>
      <p:sp>
        <p:nvSpPr>
          <p:cNvPr id="15" name="Text 13"/>
          <p:cNvSpPr/>
          <p:nvPr/>
        </p:nvSpPr>
        <p:spPr>
          <a:xfrm>
            <a:off x="1092200" y="3509010"/>
            <a:ext cx="14655800" cy="381000"/>
          </a:xfrm>
          <a:prstGeom prst="rect">
            <a:avLst/>
          </a:prstGeom>
          <a:noFill/>
        </p:spPr>
        <p:txBody>
          <a:bodyPr wrap="none" lIns="0" tIns="0" rIns="0" bIns="0" rtlCol="0" anchor="ctr"/>
          <a:lstStyle/>
          <a:p>
            <a:pPr>
              <a:lnSpc>
                <a:spcPct val="100000"/>
              </a:lnSpc>
            </a:pPr>
            <a:r>
              <a:rPr 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等效模型</a:t>
            </a:r>
            <a:r>
              <a:rPr lang="zh-CN" alt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运用</a:t>
            </a:r>
            <a:r>
              <a:rPr 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不熟练</a:t>
            </a:r>
          </a:p>
        </p:txBody>
      </p:sp>
      <p:sp>
        <p:nvSpPr>
          <p:cNvPr id="16" name="Text 14"/>
          <p:cNvSpPr/>
          <p:nvPr/>
        </p:nvSpPr>
        <p:spPr>
          <a:xfrm>
            <a:off x="1092200" y="3940810"/>
            <a:ext cx="14655800" cy="558800"/>
          </a:xfrm>
          <a:prstGeom prst="rect">
            <a:avLst/>
          </a:prstGeom>
          <a:noFill/>
        </p:spPr>
        <p:txBody>
          <a:bodyPr wrap="square" lIns="0" tIns="0" rIns="0" bIns="0" rtlCol="0" anchor="ctr"/>
          <a:lstStyle/>
          <a:p>
            <a:pPr>
              <a:lnSpc>
                <a:spcPct val="160000"/>
              </a:lnSpc>
            </a:pPr>
            <a:r>
              <a:rPr lang="en-US" sz="2000"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从电路图到等效模型的转换过程复杂，学生难以独立完成。</a:t>
            </a:r>
          </a:p>
        </p:txBody>
      </p:sp>
      <p:sp>
        <p:nvSpPr>
          <p:cNvPr id="17" name="Shape 15"/>
          <p:cNvSpPr/>
          <p:nvPr/>
        </p:nvSpPr>
        <p:spPr>
          <a:xfrm>
            <a:off x="508000" y="5038090"/>
            <a:ext cx="15240000" cy="12700"/>
          </a:xfrm>
          <a:prstGeom prst="rect">
            <a:avLst/>
          </a:prstGeom>
          <a:solidFill>
            <a:srgbClr val="E0E0E0"/>
          </a:solidFill>
        </p:spPr>
      </p:sp>
      <p:sp>
        <p:nvSpPr>
          <p:cNvPr id="18" name="Shape 16"/>
          <p:cNvSpPr/>
          <p:nvPr/>
        </p:nvSpPr>
        <p:spPr>
          <a:xfrm>
            <a:off x="508000" y="5190490"/>
            <a:ext cx="381000" cy="381000"/>
          </a:xfrm>
          <a:prstGeom prst="ellipse">
            <a:avLst/>
          </a:prstGeom>
          <a:solidFill>
            <a:srgbClr val="2E86C1"/>
          </a:solidFill>
        </p:spPr>
      </p:sp>
      <p:sp>
        <p:nvSpPr>
          <p:cNvPr id="19" name="Text 17"/>
          <p:cNvSpPr/>
          <p:nvPr/>
        </p:nvSpPr>
        <p:spPr>
          <a:xfrm>
            <a:off x="508000" y="5190490"/>
            <a:ext cx="381000" cy="381000"/>
          </a:xfrm>
          <a:prstGeom prst="rect">
            <a:avLst/>
          </a:prstGeom>
          <a:noFill/>
        </p:spPr>
        <p:txBody>
          <a:bodyPr wrap="none" lIns="0" tIns="0" rIns="0" bIns="0" rtlCol="0" anchor="ctr"/>
          <a:lstStyle/>
          <a:p>
            <a:pPr algn="ctr">
              <a:lnSpc>
                <a:spcPct val="100000"/>
              </a:lnSpc>
            </a:pPr>
            <a:r>
              <a:rPr lang="en-US" dirty="0">
                <a:solidFill>
                  <a:srgbClr val="FFFFFF"/>
                </a:solidFill>
                <a:latin typeface="Quattrocento Sans" panose="020B0502050000020003" pitchFamily="34" charset="0"/>
                <a:ea typeface="Quattrocento Sans" panose="020B0502050000020003" pitchFamily="34" charset="-122"/>
                <a:cs typeface="Quattrocento Sans" panose="020B0502050000020003" pitchFamily="34" charset="-120"/>
              </a:rPr>
              <a:t>3</a:t>
            </a:r>
          </a:p>
        </p:txBody>
      </p:sp>
      <p:sp>
        <p:nvSpPr>
          <p:cNvPr id="20" name="Text 18"/>
          <p:cNvSpPr/>
          <p:nvPr/>
        </p:nvSpPr>
        <p:spPr>
          <a:xfrm>
            <a:off x="1092200" y="5190490"/>
            <a:ext cx="14655800" cy="381000"/>
          </a:xfrm>
          <a:prstGeom prst="rect">
            <a:avLst/>
          </a:prstGeom>
          <a:noFill/>
        </p:spPr>
        <p:txBody>
          <a:bodyPr wrap="none" lIns="0" tIns="0" rIns="0" bIns="0" rtlCol="0" anchor="ctr"/>
          <a:lstStyle/>
          <a:p>
            <a:pPr>
              <a:lnSpc>
                <a:spcPct val="100000"/>
              </a:lnSpc>
            </a:pPr>
            <a:r>
              <a:rPr 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公式推导步骤多、易出错</a:t>
            </a:r>
          </a:p>
        </p:txBody>
      </p:sp>
      <p:sp>
        <p:nvSpPr>
          <p:cNvPr id="21" name="Text 19"/>
          <p:cNvSpPr/>
          <p:nvPr/>
        </p:nvSpPr>
        <p:spPr>
          <a:xfrm>
            <a:off x="1092200" y="5622290"/>
            <a:ext cx="14655800" cy="558800"/>
          </a:xfrm>
          <a:prstGeom prst="rect">
            <a:avLst/>
          </a:prstGeom>
          <a:noFill/>
        </p:spPr>
        <p:txBody>
          <a:bodyPr wrap="square" lIns="0" tIns="0" rIns="0" bIns="0" rtlCol="0" anchor="ctr"/>
          <a:lstStyle/>
          <a:p>
            <a:pPr>
              <a:lnSpc>
                <a:spcPct val="160000"/>
              </a:lnSpc>
            </a:pPr>
            <a:r>
              <a:rPr lang="en-US" sz="2000"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模电分析涉及工作区判断、等效变换、符号推导等多个环节，做题过程不连贯，极易出错。</a:t>
            </a:r>
          </a:p>
        </p:txBody>
      </p:sp>
      <p:sp>
        <p:nvSpPr>
          <p:cNvPr id="22" name="Shape 20"/>
          <p:cNvSpPr/>
          <p:nvPr/>
        </p:nvSpPr>
        <p:spPr>
          <a:xfrm>
            <a:off x="508000" y="6841490"/>
            <a:ext cx="15240000" cy="12700"/>
          </a:xfrm>
          <a:prstGeom prst="rect">
            <a:avLst/>
          </a:prstGeom>
          <a:solidFill>
            <a:srgbClr val="E0E0E0"/>
          </a:solidFill>
        </p:spPr>
      </p:sp>
      <p:sp>
        <p:nvSpPr>
          <p:cNvPr id="23" name="Shape 21"/>
          <p:cNvSpPr/>
          <p:nvPr/>
        </p:nvSpPr>
        <p:spPr>
          <a:xfrm>
            <a:off x="508000" y="6993890"/>
            <a:ext cx="381000" cy="381000"/>
          </a:xfrm>
          <a:prstGeom prst="ellipse">
            <a:avLst/>
          </a:prstGeom>
          <a:solidFill>
            <a:srgbClr val="1A4A7A"/>
          </a:solidFill>
        </p:spPr>
      </p:sp>
      <p:sp>
        <p:nvSpPr>
          <p:cNvPr id="24" name="Text 22"/>
          <p:cNvSpPr/>
          <p:nvPr/>
        </p:nvSpPr>
        <p:spPr>
          <a:xfrm>
            <a:off x="508000" y="6993890"/>
            <a:ext cx="381000" cy="381000"/>
          </a:xfrm>
          <a:prstGeom prst="rect">
            <a:avLst/>
          </a:prstGeom>
          <a:noFill/>
        </p:spPr>
        <p:txBody>
          <a:bodyPr wrap="none" lIns="0" tIns="0" rIns="0" bIns="0" rtlCol="0" anchor="ctr"/>
          <a:lstStyle/>
          <a:p>
            <a:pPr algn="ctr">
              <a:lnSpc>
                <a:spcPct val="100000"/>
              </a:lnSpc>
            </a:pPr>
            <a:r>
              <a:rPr lang="en-US" sz="1600" dirty="0">
                <a:solidFill>
                  <a:srgbClr val="FFFFFF"/>
                </a:solidFill>
                <a:latin typeface="Quattrocento Sans" panose="020B0502050000020003" pitchFamily="34" charset="0"/>
                <a:ea typeface="Quattrocento Sans" panose="020B0502050000020003" pitchFamily="34" charset="-122"/>
                <a:cs typeface="Quattrocento Sans" panose="020B0502050000020003" pitchFamily="34" charset="-120"/>
              </a:rPr>
              <a:t>4</a:t>
            </a:r>
          </a:p>
        </p:txBody>
      </p:sp>
      <p:sp>
        <p:nvSpPr>
          <p:cNvPr id="25" name="Text 23"/>
          <p:cNvSpPr/>
          <p:nvPr/>
        </p:nvSpPr>
        <p:spPr>
          <a:xfrm>
            <a:off x="1092200" y="6993890"/>
            <a:ext cx="14655800" cy="381000"/>
          </a:xfrm>
          <a:prstGeom prst="rect">
            <a:avLst/>
          </a:prstGeom>
          <a:noFill/>
        </p:spPr>
        <p:txBody>
          <a:bodyPr wrap="none" lIns="0" tIns="0" rIns="0" bIns="0" rtlCol="0" anchor="ctr"/>
          <a:lstStyle/>
          <a:p>
            <a:pPr>
              <a:lnSpc>
                <a:spcPct val="100000"/>
              </a:lnSpc>
            </a:pPr>
            <a:r>
              <a:rPr 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缺少</a:t>
            </a:r>
            <a:r>
              <a:rPr lang="zh-CN" alt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清晰的参考答案</a:t>
            </a:r>
          </a:p>
        </p:txBody>
      </p:sp>
      <p:sp>
        <p:nvSpPr>
          <p:cNvPr id="26" name="Text 24"/>
          <p:cNvSpPr/>
          <p:nvPr/>
        </p:nvSpPr>
        <p:spPr>
          <a:xfrm>
            <a:off x="1092200" y="7425690"/>
            <a:ext cx="14655800" cy="558800"/>
          </a:xfrm>
          <a:prstGeom prst="rect">
            <a:avLst/>
          </a:prstGeom>
          <a:noFill/>
        </p:spPr>
        <p:txBody>
          <a:bodyPr wrap="square" lIns="0" tIns="0" rIns="0" bIns="0" rtlCol="0" anchor="ctr"/>
          <a:lstStyle/>
          <a:p>
            <a:pPr>
              <a:lnSpc>
                <a:spcPct val="160000"/>
              </a:lnSpc>
            </a:pPr>
            <a:r>
              <a:rPr lang="en-US" sz="2000"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做完题后难以验证答案是否正确，现有工具多为仿真验证，缺少面向教学的可解释分析步骤。</a:t>
            </a:r>
          </a:p>
        </p:txBody>
      </p:sp>
      <p:sp>
        <p:nvSpPr>
          <p:cNvPr id="30" name="Text 28"/>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4</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304800"/>
            <a:ext cx="10668000" cy="457200"/>
          </a:xfrm>
          <a:prstGeom prst="rect">
            <a:avLst/>
          </a:prstGeom>
          <a:noFill/>
        </p:spPr>
        <p:txBody>
          <a:bodyPr wrap="none" lIns="0" tIns="0" rIns="0" bIns="0" rtlCol="0" anchor="ctr"/>
          <a:lstStyle/>
          <a:p>
            <a:pPr>
              <a:lnSpc>
                <a:spcPct val="100000"/>
              </a:lnSpc>
            </a:pPr>
            <a:r>
              <a:rPr 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现有工具无法覆盖完整学习链路</a:t>
            </a:r>
          </a:p>
        </p:txBody>
      </p:sp>
      <p:sp>
        <p:nvSpPr>
          <p:cNvPr id="6" name="Shape 4"/>
          <p:cNvSpPr/>
          <p:nvPr/>
        </p:nvSpPr>
        <p:spPr>
          <a:xfrm>
            <a:off x="508000" y="863600"/>
            <a:ext cx="15240000" cy="12700"/>
          </a:xfrm>
          <a:prstGeom prst="rect">
            <a:avLst/>
          </a:prstGeom>
          <a:solidFill>
            <a:srgbClr val="E0E0E0"/>
          </a:solidFill>
        </p:spPr>
      </p:sp>
      <p:graphicFrame>
        <p:nvGraphicFramePr>
          <p:cNvPr id="8" name="Table 0"/>
          <p:cNvGraphicFramePr>
            <a:graphicFrameLocks noGrp="1"/>
          </p:cNvGraphicFramePr>
          <p:nvPr>
            <p:custDataLst>
              <p:tags r:id="rId1"/>
            </p:custDataLst>
          </p:nvPr>
        </p:nvGraphicFramePr>
        <p:xfrm>
          <a:off x="508000" y="1371600"/>
          <a:ext cx="7706995" cy="5742305"/>
        </p:xfrm>
        <a:graphic>
          <a:graphicData uri="http://schemas.openxmlformats.org/drawingml/2006/table">
            <a:tbl>
              <a:tblPr/>
              <a:tblGrid>
                <a:gridCol w="1789430">
                  <a:extLst>
                    <a:ext uri="{9D8B030D-6E8A-4147-A177-3AD203B41FA5}">
                      <a16:colId xmlns:a16="http://schemas.microsoft.com/office/drawing/2014/main" val="20000"/>
                    </a:ext>
                  </a:extLst>
                </a:gridCol>
                <a:gridCol w="2204085">
                  <a:extLst>
                    <a:ext uri="{9D8B030D-6E8A-4147-A177-3AD203B41FA5}">
                      <a16:colId xmlns:a16="http://schemas.microsoft.com/office/drawing/2014/main" val="20001"/>
                    </a:ext>
                  </a:extLst>
                </a:gridCol>
                <a:gridCol w="3713480">
                  <a:extLst>
                    <a:ext uri="{9D8B030D-6E8A-4147-A177-3AD203B41FA5}">
                      <a16:colId xmlns:a16="http://schemas.microsoft.com/office/drawing/2014/main" val="20002"/>
                    </a:ext>
                  </a:extLst>
                </a:gridCol>
              </a:tblGrid>
              <a:tr h="897255">
                <a:tc>
                  <a:txBody>
                    <a:bodyPr/>
                    <a:lstStyle/>
                    <a:p>
                      <a:pPr algn="l"/>
                      <a:r>
                        <a:rPr 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工具</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l"/>
                      <a:r>
                        <a:rPr 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优势</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l"/>
                      <a:r>
                        <a:rPr 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不足</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1177925">
                <a:tc>
                  <a:txBody>
                    <a:bodyPr/>
                    <a:lstStyle/>
                    <a:p>
                      <a:pPr algn="l">
                        <a:lnSpc>
                          <a:spcPct val="150000"/>
                        </a:lnSpc>
                      </a:pPr>
                      <a:r>
                        <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Multisim</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仿真能力强，元件库丰富</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面向专业设计，不侧重解题步骤和公式推导</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74750">
                <a:tc>
                  <a:txBody>
                    <a:bodyPr/>
                    <a:lstStyle/>
                    <a:p>
                      <a:pPr algn="l">
                        <a:lnSpc>
                          <a:spcPct val="150000"/>
                        </a:lnSpc>
                      </a:pPr>
                      <a:r>
                        <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CircuitMath</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符号分析和LaTeX输出</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需手动搭建电路，不能从照片恢复拓扑</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176655">
                <a:tc>
                  <a:txBody>
                    <a:bodyPr/>
                    <a:lstStyle/>
                    <a:p>
                      <a:pPr algn="l">
                        <a:lnSpc>
                          <a:spcPct val="150000"/>
                        </a:lnSpc>
                      </a:pPr>
                      <a:r>
                        <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拍照搜题</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拍照即用，便捷性强</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lnSpc>
                          <a:spcPct val="150000"/>
                        </a:lnSpc>
                      </a:pP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搜题大多给不出正确答案，也没有完整的等效电路解题过程</a:t>
                      </a:r>
                      <a:endPar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315720">
                <a:tc>
                  <a:txBody>
                    <a:bodyPr/>
                    <a:lstStyle/>
                    <a:p>
                      <a:pPr algn="l">
                        <a:lnSpc>
                          <a:spcPct val="150000"/>
                        </a:lnSpc>
                      </a:pPr>
                      <a:r>
                        <a:rPr lang="zh-CN" alt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大模型</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图像理解、文字说明能力强</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lnSpc>
                          <a:spcPct val="150000"/>
                        </a:lnSpc>
                      </a:pP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缺少可验证的电路拓扑和符号化分析流程</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grpSp>
        <p:nvGrpSpPr>
          <p:cNvPr id="18" name="组合 17"/>
          <p:cNvGrpSpPr/>
          <p:nvPr/>
        </p:nvGrpSpPr>
        <p:grpSpPr>
          <a:xfrm>
            <a:off x="594360" y="7795260"/>
            <a:ext cx="14647131" cy="762000"/>
            <a:chOff x="800" y="11480"/>
            <a:chExt cx="17109" cy="1200"/>
          </a:xfrm>
        </p:grpSpPr>
        <p:sp>
          <p:nvSpPr>
            <p:cNvPr id="15" name="Shape 12"/>
            <p:cNvSpPr/>
            <p:nvPr/>
          </p:nvSpPr>
          <p:spPr>
            <a:xfrm>
              <a:off x="800" y="11480"/>
              <a:ext cx="17109" cy="1200"/>
            </a:xfrm>
            <a:prstGeom prst="roundRect">
              <a:avLst>
                <a:gd name="adj" fmla="val 4000"/>
              </a:avLst>
            </a:prstGeom>
            <a:solidFill>
              <a:srgbClr val="E3F0FA"/>
            </a:solidFill>
          </p:spPr>
        </p:sp>
        <p:sp>
          <p:nvSpPr>
            <p:cNvPr id="16" name="Text 13"/>
            <p:cNvSpPr/>
            <p:nvPr/>
          </p:nvSpPr>
          <p:spPr>
            <a:xfrm>
              <a:off x="1200" y="11480"/>
              <a:ext cx="16081" cy="1200"/>
            </a:xfrm>
            <a:prstGeom prst="rect">
              <a:avLst/>
            </a:prstGeom>
            <a:noFill/>
          </p:spPr>
          <p:txBody>
            <a:bodyPr wrap="square" lIns="0" tIns="0" rIns="0" bIns="0" rtlCol="0" anchor="ctr"/>
            <a:lstStyle/>
            <a:p>
              <a:pPr>
                <a:lnSpc>
                  <a:spcPct val="150000"/>
                </a:lnSpc>
              </a:pPr>
              <a:r>
                <a:rPr lang="en-US" sz="2400" b="1"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核心问题：</a:t>
              </a:r>
              <a:r>
                <a:rPr lang="en-US" sz="24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缺少一个</a:t>
              </a:r>
              <a:r>
                <a:rPr lang="zh-CN" altLang="en-US" sz="24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针对电子电路</a:t>
              </a:r>
              <a:r>
                <a:rPr lang="en-US" sz="24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4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学习</a:t>
              </a:r>
              <a:r>
                <a:rPr lang="en-US" sz="24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工具。</a:t>
              </a:r>
            </a:p>
          </p:txBody>
        </p:sp>
      </p:grpSp>
      <p:sp>
        <p:nvSpPr>
          <p:cNvPr id="17" name="Text 14"/>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5</a:t>
            </a:r>
            <a:endParaRPr lang="en-US" sz="1600" dirty="0"/>
          </a:p>
        </p:txBody>
      </p:sp>
      <p:pic>
        <p:nvPicPr>
          <p:cNvPr id="20" name="图片 19" descr="27ed77bb0a87629b66d021513a7c8c5a"/>
          <p:cNvPicPr>
            <a:picLocks noChangeAspect="1"/>
          </p:cNvPicPr>
          <p:nvPr/>
        </p:nvPicPr>
        <p:blipFill>
          <a:blip r:embed="rId4"/>
          <a:stretch>
            <a:fillRect/>
          </a:stretch>
        </p:blipFill>
        <p:spPr>
          <a:xfrm>
            <a:off x="8421370" y="1430020"/>
            <a:ext cx="7444105" cy="531368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6096000" y="1778000"/>
            <a:ext cx="12700" cy="5588000"/>
          </a:xfrm>
          <a:prstGeom prst="rect">
            <a:avLst/>
          </a:prstGeom>
          <a:solidFill>
            <a:srgbClr val="E0E0E0"/>
          </a:solidFill>
        </p:spPr>
      </p:sp>
      <p:sp>
        <p:nvSpPr>
          <p:cNvPr id="4" name="Text 2"/>
          <p:cNvSpPr/>
          <p:nvPr/>
        </p:nvSpPr>
        <p:spPr>
          <a:xfrm>
            <a:off x="762000" y="2540000"/>
            <a:ext cx="4826000" cy="2540000"/>
          </a:xfrm>
          <a:prstGeom prst="rect">
            <a:avLst/>
          </a:prstGeom>
          <a:noFill/>
        </p:spPr>
        <p:txBody>
          <a:bodyPr wrap="none" lIns="0" tIns="0" rIns="0" bIns="0" rtlCol="0" anchor="ctr"/>
          <a:lstStyle/>
          <a:p>
            <a:pPr algn="ctr">
              <a:lnSpc>
                <a:spcPct val="100000"/>
              </a:lnSpc>
            </a:pPr>
            <a:r>
              <a:rPr lang="en-US" sz="120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02</a:t>
            </a:r>
          </a:p>
        </p:txBody>
      </p:sp>
      <p:sp>
        <p:nvSpPr>
          <p:cNvPr id="5" name="Text 3"/>
          <p:cNvSpPr/>
          <p:nvPr/>
        </p:nvSpPr>
        <p:spPr>
          <a:xfrm>
            <a:off x="762000" y="5080000"/>
            <a:ext cx="4826000" cy="355600"/>
          </a:xfrm>
          <a:prstGeom prst="rect">
            <a:avLst/>
          </a:prstGeom>
          <a:noFill/>
        </p:spPr>
        <p:txBody>
          <a:bodyPr wrap="none" lIns="0" tIns="0" rIns="0" bIns="0" rtlCol="0" anchor="ctr"/>
          <a:lstStyle/>
          <a:p>
            <a:pPr algn="ctr">
              <a:lnSpc>
                <a:spcPct val="100000"/>
              </a:lnSpc>
            </a:pPr>
            <a:r>
              <a:rPr lang="en-US"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CHAPTER TWO</a:t>
            </a:r>
          </a:p>
        </p:txBody>
      </p:sp>
      <p:sp>
        <p:nvSpPr>
          <p:cNvPr id="6" name="Text 4"/>
          <p:cNvSpPr/>
          <p:nvPr/>
        </p:nvSpPr>
        <p:spPr>
          <a:xfrm>
            <a:off x="6604000" y="2997200"/>
            <a:ext cx="8890000" cy="711200"/>
          </a:xfrm>
          <a:prstGeom prst="rect">
            <a:avLst/>
          </a:prstGeom>
          <a:noFill/>
        </p:spPr>
        <p:txBody>
          <a:bodyPr wrap="none" lIns="0" tIns="0" rIns="0" bIns="0" rtlCol="0" anchor="ctr"/>
          <a:lstStyle/>
          <a:p>
            <a:pPr>
              <a:lnSpc>
                <a:spcPct val="100000"/>
              </a:lnSpc>
            </a:pPr>
            <a:r>
              <a:rPr lang="zh-CN" altLang="en-US" sz="44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项目目标</a:t>
            </a:r>
            <a:endParaRPr lang="zh-CN" altLang="en-US" sz="4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7" name="Text 5"/>
          <p:cNvSpPr/>
          <p:nvPr/>
        </p:nvSpPr>
        <p:spPr>
          <a:xfrm>
            <a:off x="6604000" y="3835400"/>
            <a:ext cx="8890000" cy="355600"/>
          </a:xfrm>
          <a:prstGeom prst="rect">
            <a:avLst/>
          </a:prstGeom>
          <a:noFill/>
        </p:spPr>
        <p:txBody>
          <a:bodyPr wrap="none" lIns="0" tIns="0" rIns="0" bIns="0" rtlCol="0" anchor="ctr"/>
          <a:lstStyle/>
          <a:p>
            <a:pPr>
              <a:lnSpc>
                <a:spcPct val="100000"/>
              </a:lnSpc>
            </a:pPr>
            <a:r>
              <a:rPr lang="en-US" sz="240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Project Objectives</a:t>
            </a:r>
            <a:endParaRPr lang="en-US" sz="2400"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8" name="Shape 6"/>
          <p:cNvSpPr/>
          <p:nvPr/>
        </p:nvSpPr>
        <p:spPr>
          <a:xfrm>
            <a:off x="6604000" y="4572000"/>
            <a:ext cx="4064000" cy="12700"/>
          </a:xfrm>
          <a:prstGeom prst="rect">
            <a:avLst/>
          </a:prstGeom>
          <a:solidFill>
            <a:srgbClr val="E0E0E0"/>
          </a:solidFill>
        </p:spPr>
      </p:sp>
      <p:sp>
        <p:nvSpPr>
          <p:cNvPr id="11" name="Text 9"/>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7</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304800"/>
            <a:ext cx="10668000" cy="457200"/>
          </a:xfrm>
          <a:prstGeom prst="rect">
            <a:avLst/>
          </a:prstGeom>
          <a:noFill/>
        </p:spPr>
        <p:txBody>
          <a:bodyPr wrap="none" lIns="0" tIns="0" rIns="0" bIns="0" rtlCol="0" anchor="ctr"/>
          <a:lstStyle/>
          <a:p>
            <a:pPr>
              <a:lnSpc>
                <a:spcPct val="100000"/>
              </a:lnSpc>
            </a:pPr>
            <a:r>
              <a:rPr lang="zh-CN" altLang="en-US" sz="32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项目目标与阶段指标</a:t>
            </a:r>
            <a:endParaRPr lang="zh-CN" alt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6" name="Shape 4"/>
          <p:cNvSpPr/>
          <p:nvPr/>
        </p:nvSpPr>
        <p:spPr>
          <a:xfrm>
            <a:off x="508000" y="863600"/>
            <a:ext cx="15240000" cy="12700"/>
          </a:xfrm>
          <a:prstGeom prst="rect">
            <a:avLst/>
          </a:prstGeom>
          <a:solidFill>
            <a:srgbClr val="E0E0E0"/>
          </a:solidFill>
        </p:spPr>
      </p:sp>
      <p:sp>
        <p:nvSpPr>
          <p:cNvPr id="7" name="Text 5"/>
          <p:cNvSpPr/>
          <p:nvPr/>
        </p:nvSpPr>
        <p:spPr>
          <a:xfrm>
            <a:off x="508000" y="1029970"/>
            <a:ext cx="15240000" cy="355600"/>
          </a:xfrm>
          <a:prstGeom prst="rect">
            <a:avLst/>
          </a:prstGeom>
          <a:noFill/>
        </p:spPr>
        <p:txBody>
          <a:bodyPr wrap="none" lIns="0" tIns="0" rIns="0" bIns="0" rtlCol="0" anchor="ctr"/>
          <a:lstStyle/>
          <a:p>
            <a:pPr>
              <a:lnSpc>
                <a:spcPct val="100000"/>
              </a:lnSpc>
            </a:pPr>
            <a:r>
              <a:rPr lang="zh-CN" altLang="en-US" sz="2400" b="1">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总体目标：研发一套面向电路分析与模电学习的电路智能分析与教学辅助系统原型</a:t>
            </a:r>
            <a:endParaRPr lang="zh-CN" altLang="en-US" sz="2400" b="1"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endParaRPr>
          </a:p>
        </p:txBody>
      </p:sp>
      <p:graphicFrame>
        <p:nvGraphicFramePr>
          <p:cNvPr id="10" name="Table 0"/>
          <p:cNvGraphicFramePr>
            <a:graphicFrameLocks noGrp="1"/>
          </p:cNvGraphicFramePr>
          <p:nvPr/>
        </p:nvGraphicFramePr>
        <p:xfrm>
          <a:off x="508000" y="1762125"/>
          <a:ext cx="9884410" cy="5147945"/>
        </p:xfrm>
        <a:graphic>
          <a:graphicData uri="http://schemas.openxmlformats.org/drawingml/2006/table">
            <a:tbl>
              <a:tblPr/>
              <a:tblGrid>
                <a:gridCol w="3274060">
                  <a:extLst>
                    <a:ext uri="{9D8B030D-6E8A-4147-A177-3AD203B41FA5}">
                      <a16:colId xmlns:a16="http://schemas.microsoft.com/office/drawing/2014/main" val="20000"/>
                    </a:ext>
                  </a:extLst>
                </a:gridCol>
                <a:gridCol w="6610350">
                  <a:extLst>
                    <a:ext uri="{9D8B030D-6E8A-4147-A177-3AD203B41FA5}">
                      <a16:colId xmlns:a16="http://schemas.microsoft.com/office/drawing/2014/main" val="20001"/>
                    </a:ext>
                  </a:extLst>
                </a:gridCol>
              </a:tblGrid>
              <a:tr h="504190">
                <a:tc>
                  <a:txBody>
                    <a:bodyPr/>
                    <a:lstStyle/>
                    <a:p>
                      <a:pPr algn="ctr"/>
                      <a:r>
                        <a:rPr lang="zh-CN" alt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功能</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具体指标</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503555">
                <a:tc rowSpan="3">
                  <a:txBody>
                    <a:bodyPr/>
                    <a:lstStyle/>
                    <a:p>
                      <a:pPr algn="ctr"/>
                      <a:r>
                        <a:rPr lang="en-US" sz="20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sym typeface="+mn-ea"/>
                        </a:rPr>
                        <a:t>电路拓扑结构的精确识别</a:t>
                      </a:r>
                      <a:endPar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元件类型识别</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4190">
                <a:tc vMerge="1">
                  <a:txBody>
                    <a:bodyPr/>
                    <a:lstStyle/>
                    <a:p>
                      <a:endParaRPr lang="zh-CN"/>
                    </a:p>
                  </a:txBody>
                  <a:tcPr/>
                </a:tc>
                <a:tc>
                  <a:txBody>
                    <a:bodyPr/>
                    <a:lstStyle/>
                    <a:p>
                      <a:pPr algn="ct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节点连接识别</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03555">
                <a:tc vMerge="1">
                  <a:txBody>
                    <a:bodyPr/>
                    <a:lstStyle/>
                    <a:p>
                      <a:endParaRPr lang="zh-CN"/>
                    </a:p>
                  </a:txBody>
                  <a:tcPr/>
                </a:tc>
                <a:tc>
                  <a:txBody>
                    <a:bodyPr/>
                    <a:lstStyle/>
                    <a:p>
                      <a:pPr algn="ct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元件参数识别</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4190">
                <a:tc rowSpan="3">
                  <a:txBody>
                    <a:bodyPr/>
                    <a:lstStyle/>
                    <a:p>
                      <a:pPr algn="ctr"/>
                      <a:r>
                        <a:rPr lang="en-US" sz="20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sym typeface="+mn-ea"/>
                        </a:rPr>
                        <a:t>电路题目的课程化分析</a:t>
                      </a:r>
                      <a:endPar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关键节点分析</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04190">
                <a:tc vMerge="1">
                  <a:txBody>
                    <a:bodyPr/>
                    <a:lstStyle/>
                    <a:p>
                      <a:endParaRPr lang="zh-CN"/>
                    </a:p>
                  </a:txBody>
                  <a:tcPr/>
                </a:tc>
                <a:tc>
                  <a:txBody>
                    <a:bodyPr/>
                    <a:lstStyle/>
                    <a:p>
                      <a:pPr algn="ct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等效电路</a:t>
                      </a: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图</a:t>
                      </a: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生成</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3555">
                <a:tc vMerge="1">
                  <a:txBody>
                    <a:bodyPr/>
                    <a:lstStyle/>
                    <a:p>
                      <a:endParaRPr lang="zh-CN"/>
                    </a:p>
                  </a:txBody>
                  <a:tcPr/>
                </a:tc>
                <a:tc>
                  <a:txBody>
                    <a:bodyPr/>
                    <a:lstStyle/>
                    <a:p>
                      <a:pPr algn="ctr"/>
                      <a:r>
                        <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方程</a:t>
                      </a: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撰写</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504190">
                <a:tc rowSpan="3">
                  <a:txBody>
                    <a:bodyPr/>
                    <a:lstStyle/>
                    <a:p>
                      <a:pPr algn="ctr"/>
                      <a:r>
                        <a:rPr lang="en-US" sz="20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sym typeface="+mn-ea"/>
                        </a:rPr>
                        <a:t>教学级可视化</a:t>
                      </a:r>
                      <a:r>
                        <a:rPr lang="zh-CN" altLang="en-US" sz="20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sym typeface="+mn-ea"/>
                        </a:rPr>
                        <a:t>内容</a:t>
                      </a:r>
                      <a:r>
                        <a:rPr lang="en-US" sz="20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sym typeface="+mn-ea"/>
                        </a:rPr>
                        <a:t>输出</a:t>
                      </a:r>
                      <a:endParaRPr lang="en-US" sz="2000" b="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题目相关知识点定位</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58165">
                <a:tc vMerge="1">
                  <a:txBody>
                    <a:bodyPr/>
                    <a:lstStyle/>
                    <a:p>
                      <a:endParaRPr lang="zh-CN"/>
                    </a:p>
                  </a:txBody>
                  <a:tcPr/>
                </a:tc>
                <a:tc>
                  <a:txBody>
                    <a:bodyPr/>
                    <a:lstStyle/>
                    <a:p>
                      <a:pPr algn="ct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题目推导过程的构建</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558165">
                <a:tc vMerge="1">
                  <a:txBody>
                    <a:bodyPr/>
                    <a:lstStyle/>
                    <a:p>
                      <a:endParaRPr lang="zh-CN"/>
                    </a:p>
                  </a:txBody>
                  <a:tcPr>
                    <a:lnR w="12700" cap="flat" cmpd="sng" algn="ctr">
                      <a:solidFill>
                        <a:srgbClr val="E0E0E0"/>
                      </a:solidFill>
                      <a:prstDash val="solid"/>
                      <a:round/>
                      <a:headEnd type="none" w="med" len="med"/>
                      <a:tailEnd type="none" w="med" len="med"/>
                    </a:lnR>
                    <a:lnB w="12700" cap="flat" cmpd="sng" algn="ctr">
                      <a:solidFill>
                        <a:srgbClr val="E0E0E0"/>
                      </a:solidFill>
                      <a:prstDash val="solid"/>
                      <a:round/>
                      <a:headEnd type="none" w="med" len="med"/>
                      <a:tailEnd type="none" w="med" len="med"/>
                    </a:lnB>
                    <a:solidFill>
                      <a:srgbClr val="FFFFFF"/>
                    </a:solidFill>
                  </a:tcPr>
                </a:tc>
                <a:tc>
                  <a:txBody>
                    <a:bodyPr/>
                    <a:lstStyle/>
                    <a:p>
                      <a:pPr algn="ctr">
                        <a:buNone/>
                      </a:pPr>
                      <a:r>
                        <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搭建题型库</a:t>
                      </a: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9" name="Text 7"/>
          <p:cNvSpPr/>
          <p:nvPr/>
        </p:nvSpPr>
        <p:spPr>
          <a:xfrm>
            <a:off x="10922000" y="2033905"/>
            <a:ext cx="4826000" cy="355600"/>
          </a:xfrm>
          <a:prstGeom prst="rect">
            <a:avLst/>
          </a:prstGeom>
          <a:noFill/>
        </p:spPr>
        <p:txBody>
          <a:bodyPr wrap="none" lIns="0" tIns="0" rIns="0" bIns="0" rtlCol="0" anchor="ctr"/>
          <a:lstStyle/>
          <a:p>
            <a:pPr>
              <a:lnSpc>
                <a:spcPct val="100000"/>
              </a:lnSpc>
            </a:pPr>
            <a:r>
              <a:rPr lang="en-US" sz="2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覆盖范围</a:t>
            </a:r>
          </a:p>
        </p:txBody>
      </p:sp>
      <p:sp>
        <p:nvSpPr>
          <p:cNvPr id="11" name="Shape 8"/>
          <p:cNvSpPr/>
          <p:nvPr/>
        </p:nvSpPr>
        <p:spPr>
          <a:xfrm>
            <a:off x="10922000" y="2440305"/>
            <a:ext cx="2540000" cy="25400"/>
          </a:xfrm>
          <a:prstGeom prst="rect">
            <a:avLst/>
          </a:prstGeom>
          <a:solidFill>
            <a:srgbClr val="5B9BD5"/>
          </a:solidFill>
        </p:spPr>
      </p:sp>
      <p:sp>
        <p:nvSpPr>
          <p:cNvPr id="12" name="Text 9"/>
          <p:cNvSpPr/>
          <p:nvPr/>
        </p:nvSpPr>
        <p:spPr>
          <a:xfrm>
            <a:off x="10824210" y="2263775"/>
            <a:ext cx="4826000" cy="3683000"/>
          </a:xfrm>
          <a:prstGeom prst="rect">
            <a:avLst/>
          </a:prstGeom>
          <a:noFill/>
        </p:spPr>
        <p:txBody>
          <a:bodyPr wrap="square" lIns="0" tIns="0" rIns="0" bIns="0" rtlCol="0" anchor="ctr"/>
          <a:lstStyle/>
          <a:p>
            <a:pPr>
              <a:lnSpc>
                <a:spcPct val="170000"/>
              </a:lnSpc>
            </a:pP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涵盖以下题型：</a:t>
            </a:r>
          </a:p>
          <a:p>
            <a:pPr>
              <a:lnSpc>
                <a:spcPct val="170000"/>
              </a:lnSpc>
            </a:pP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二极管限幅 </a:t>
            </a: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钳位 </a:t>
            </a: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整流</a:t>
            </a:r>
          </a:p>
          <a:p>
            <a:pPr>
              <a:lnSpc>
                <a:spcPct val="170000"/>
              </a:lnSpc>
            </a:pP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BJT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静态工作点分析</a:t>
            </a:r>
          </a:p>
          <a:p>
            <a:pPr>
              <a:lnSpc>
                <a:spcPct val="170000"/>
              </a:lnSpc>
            </a:pP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BJT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共射 </a:t>
            </a: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共集 </a:t>
            </a: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共基小信号分析</a:t>
            </a:r>
          </a:p>
          <a:p>
            <a:pPr>
              <a:lnSpc>
                <a:spcPct val="170000"/>
              </a:lnSpc>
            </a:pP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MOS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共源放大电路</a:t>
            </a:r>
          </a:p>
          <a:p>
            <a:pPr>
              <a:lnSpc>
                <a:spcPct val="170000"/>
              </a:lnSpc>
            </a:pP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带耦合 </a:t>
            </a:r>
            <a:r>
              <a:rPr lang="en-US" altLang="zh-CN"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旁路电容的电路</a:t>
            </a:r>
          </a:p>
          <a:p>
            <a:pPr>
              <a:lnSpc>
                <a:spcPct val="170000"/>
              </a:lnSpc>
            </a:pPr>
            <a:r>
              <a:rPr lang="zh-CN" altLang="en-US" b="1">
                <a:solidFill>
                  <a:srgbClr val="2C2C2C"/>
                </a:solidFill>
                <a:latin typeface="微软雅黑" panose="020B0503020204020204" pitchFamily="34" charset="-122"/>
                <a:ea typeface="微软雅黑" panose="020B0503020204020204" pitchFamily="34" charset="-122"/>
                <a:cs typeface="微软雅黑" panose="020B0503020204020204" pitchFamily="34" charset="-122"/>
              </a:rPr>
              <a:t>覆盖从基础到进阶的核心模电分析场景</a:t>
            </a:r>
            <a:endParaRPr lang="zh-CN" altLang="en-US" b="1"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Shape 10"/>
          <p:cNvSpPr/>
          <p:nvPr/>
        </p:nvSpPr>
        <p:spPr>
          <a:xfrm>
            <a:off x="508000" y="7502525"/>
            <a:ext cx="15240000" cy="635000"/>
          </a:xfrm>
          <a:prstGeom prst="roundRect">
            <a:avLst>
              <a:gd name="adj" fmla="val 4000"/>
            </a:avLst>
          </a:prstGeom>
          <a:solidFill>
            <a:srgbClr val="E3F0FA"/>
          </a:solidFill>
        </p:spPr>
      </p:sp>
      <p:sp>
        <p:nvSpPr>
          <p:cNvPr id="14" name="Text 11"/>
          <p:cNvSpPr/>
          <p:nvPr/>
        </p:nvSpPr>
        <p:spPr>
          <a:xfrm>
            <a:off x="762000" y="7448550"/>
            <a:ext cx="14732000" cy="635000"/>
          </a:xfrm>
          <a:prstGeom prst="rect">
            <a:avLst/>
          </a:prstGeom>
          <a:noFill/>
        </p:spPr>
        <p:txBody>
          <a:bodyPr wrap="square" lIns="0" tIns="0" rIns="0" bIns="0" rtlCol="0" anchor="ctr"/>
          <a:lstStyle/>
          <a:p>
            <a:pPr>
              <a:lnSpc>
                <a:spcPct val="150000"/>
              </a:lnSpc>
            </a:pPr>
            <a:r>
              <a:rPr lang="zh-CN" altLang="en-US" sz="2400" b="1">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核心目标：帮助同学们更深刻的学习电路课程，以及提高同学们解答电路题目的效率</a:t>
            </a:r>
          </a:p>
        </p:txBody>
      </p:sp>
      <p:sp>
        <p:nvSpPr>
          <p:cNvPr id="15" name="Text 12"/>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8</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6096000" y="1778000"/>
            <a:ext cx="12700" cy="5588000"/>
          </a:xfrm>
          <a:prstGeom prst="rect">
            <a:avLst/>
          </a:prstGeom>
          <a:solidFill>
            <a:srgbClr val="E0E0E0"/>
          </a:solidFill>
        </p:spPr>
      </p:sp>
      <p:sp>
        <p:nvSpPr>
          <p:cNvPr id="4" name="Text 2"/>
          <p:cNvSpPr/>
          <p:nvPr/>
        </p:nvSpPr>
        <p:spPr>
          <a:xfrm>
            <a:off x="762000" y="2540000"/>
            <a:ext cx="4826000" cy="2540000"/>
          </a:xfrm>
          <a:prstGeom prst="rect">
            <a:avLst/>
          </a:prstGeom>
          <a:noFill/>
        </p:spPr>
        <p:txBody>
          <a:bodyPr wrap="none" lIns="0" tIns="0" rIns="0" bIns="0" rtlCol="0" anchor="ctr"/>
          <a:lstStyle/>
          <a:p>
            <a:pPr algn="ctr">
              <a:lnSpc>
                <a:spcPct val="100000"/>
              </a:lnSpc>
            </a:pPr>
            <a:r>
              <a:rPr lang="en-US" sz="120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03</a:t>
            </a:r>
          </a:p>
        </p:txBody>
      </p:sp>
      <p:sp>
        <p:nvSpPr>
          <p:cNvPr id="5" name="Text 3"/>
          <p:cNvSpPr/>
          <p:nvPr/>
        </p:nvSpPr>
        <p:spPr>
          <a:xfrm>
            <a:off x="762000" y="5080000"/>
            <a:ext cx="4826000" cy="355600"/>
          </a:xfrm>
          <a:prstGeom prst="rect">
            <a:avLst/>
          </a:prstGeom>
          <a:noFill/>
        </p:spPr>
        <p:txBody>
          <a:bodyPr wrap="none" lIns="0" tIns="0" rIns="0" bIns="0" rtlCol="0" anchor="ctr"/>
          <a:lstStyle/>
          <a:p>
            <a:pPr algn="ctr">
              <a:lnSpc>
                <a:spcPct val="100000"/>
              </a:lnSpc>
            </a:pPr>
            <a:r>
              <a:rPr lang="en-US"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CHAPTER THREE</a:t>
            </a:r>
          </a:p>
        </p:txBody>
      </p:sp>
      <p:sp>
        <p:nvSpPr>
          <p:cNvPr id="6" name="Text 4"/>
          <p:cNvSpPr/>
          <p:nvPr/>
        </p:nvSpPr>
        <p:spPr>
          <a:xfrm>
            <a:off x="6604000" y="2997200"/>
            <a:ext cx="8890000" cy="711200"/>
          </a:xfrm>
          <a:prstGeom prst="rect">
            <a:avLst/>
          </a:prstGeom>
          <a:noFill/>
        </p:spPr>
        <p:txBody>
          <a:bodyPr wrap="none" lIns="0" tIns="0" rIns="0" bIns="0" rtlCol="0" anchor="ctr"/>
          <a:lstStyle/>
          <a:p>
            <a:pPr>
              <a:lnSpc>
                <a:spcPct val="100000"/>
              </a:lnSpc>
            </a:pPr>
            <a:r>
              <a:rPr lang="en-US" sz="4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技术路线与系统架构</a:t>
            </a:r>
          </a:p>
        </p:txBody>
      </p:sp>
      <p:sp>
        <p:nvSpPr>
          <p:cNvPr id="7" name="Text 5"/>
          <p:cNvSpPr/>
          <p:nvPr/>
        </p:nvSpPr>
        <p:spPr>
          <a:xfrm>
            <a:off x="6604000" y="3835400"/>
            <a:ext cx="8890000" cy="355600"/>
          </a:xfrm>
          <a:prstGeom prst="rect">
            <a:avLst/>
          </a:prstGeom>
          <a:noFill/>
        </p:spPr>
        <p:txBody>
          <a:bodyPr wrap="none" lIns="0" tIns="0" rIns="0" bIns="0" rtlCol="0" anchor="ctr"/>
          <a:lstStyle/>
          <a:p>
            <a:pPr>
              <a:lnSpc>
                <a:spcPct val="100000"/>
              </a:lnSpc>
            </a:pPr>
            <a:r>
              <a:rPr lang="en-US" sz="2400"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Technical Route and System Architecture</a:t>
            </a:r>
          </a:p>
        </p:txBody>
      </p:sp>
      <p:sp>
        <p:nvSpPr>
          <p:cNvPr id="8" name="Shape 6"/>
          <p:cNvSpPr/>
          <p:nvPr/>
        </p:nvSpPr>
        <p:spPr>
          <a:xfrm>
            <a:off x="6604000" y="4572000"/>
            <a:ext cx="4064000" cy="12700"/>
          </a:xfrm>
          <a:prstGeom prst="rect">
            <a:avLst/>
          </a:prstGeom>
          <a:solidFill>
            <a:srgbClr val="E0E0E0"/>
          </a:solidFill>
        </p:spPr>
      </p:sp>
      <p:sp>
        <p:nvSpPr>
          <p:cNvPr id="12" name="Text 10"/>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9</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304800"/>
            <a:ext cx="10668000" cy="457200"/>
          </a:xfrm>
          <a:prstGeom prst="rect">
            <a:avLst/>
          </a:prstGeom>
          <a:noFill/>
        </p:spPr>
        <p:txBody>
          <a:bodyPr wrap="none" lIns="0" tIns="0" rIns="0" bIns="0" rtlCol="0" anchor="ctr"/>
          <a:lstStyle/>
          <a:p>
            <a:pPr>
              <a:lnSpc>
                <a:spcPct val="100000"/>
              </a:lnSpc>
            </a:pPr>
            <a:r>
              <a:rPr lang="zh-CN" altLang="en-US" sz="32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系统整体架构与核心技术路线</a:t>
            </a:r>
            <a:endParaRPr lang="zh-CN" alt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6" name="Shape 4"/>
          <p:cNvSpPr/>
          <p:nvPr/>
        </p:nvSpPr>
        <p:spPr>
          <a:xfrm>
            <a:off x="508000" y="863600"/>
            <a:ext cx="15240000" cy="12700"/>
          </a:xfrm>
          <a:prstGeom prst="rect">
            <a:avLst/>
          </a:prstGeom>
          <a:solidFill>
            <a:srgbClr val="E0E0E0"/>
          </a:solidFill>
        </p:spPr>
      </p:sp>
      <p:sp>
        <p:nvSpPr>
          <p:cNvPr id="7" name="Shape 5"/>
          <p:cNvSpPr/>
          <p:nvPr/>
        </p:nvSpPr>
        <p:spPr>
          <a:xfrm>
            <a:off x="508000" y="1041400"/>
            <a:ext cx="15240000" cy="1397000"/>
          </a:xfrm>
          <a:prstGeom prst="roundRect">
            <a:avLst>
              <a:gd name="adj" fmla="val 4000"/>
            </a:avLst>
          </a:prstGeom>
          <a:solidFill>
            <a:srgbClr val="1A4A7A"/>
          </a:solidFill>
        </p:spPr>
      </p:sp>
      <p:sp>
        <p:nvSpPr>
          <p:cNvPr id="8" name="Text 6"/>
          <p:cNvSpPr/>
          <p:nvPr/>
        </p:nvSpPr>
        <p:spPr>
          <a:xfrm>
            <a:off x="762000" y="1117600"/>
            <a:ext cx="1524000" cy="304800"/>
          </a:xfrm>
          <a:prstGeom prst="rect">
            <a:avLst/>
          </a:prstGeom>
          <a:noFill/>
        </p:spPr>
        <p:txBody>
          <a:bodyPr wrap="none" lIns="0" tIns="0" rIns="0" bIns="0" rtlCol="0" anchor="ctr"/>
          <a:lstStyle/>
          <a:p>
            <a:pPr>
              <a:lnSpc>
                <a:spcPct val="100000"/>
              </a:lnSpc>
            </a:pPr>
            <a:r>
              <a:rPr lang="en-US" b="1" dirty="0">
                <a:solidFill>
                  <a:srgbClr val="FFFFFF">
                    <a:alpha val="53333"/>
                  </a:srgbClr>
                </a:solidFill>
                <a:latin typeface="微软雅黑" panose="020B0503020204020204" pitchFamily="34" charset="-122"/>
                <a:ea typeface="微软雅黑" panose="020B0503020204020204" pitchFamily="34" charset="-122"/>
                <a:cs typeface="Quattrocento Sans" panose="020B0502050000020003" pitchFamily="34" charset="-120"/>
              </a:rPr>
              <a:t>展示层</a:t>
            </a:r>
          </a:p>
        </p:txBody>
      </p:sp>
      <p:sp>
        <p:nvSpPr>
          <p:cNvPr id="9" name="Text 7"/>
          <p:cNvSpPr/>
          <p:nvPr/>
        </p:nvSpPr>
        <p:spPr>
          <a:xfrm>
            <a:off x="762000" y="1473200"/>
            <a:ext cx="14732000" cy="838200"/>
          </a:xfrm>
          <a:prstGeom prst="rect">
            <a:avLst/>
          </a:prstGeom>
          <a:noFill/>
        </p:spPr>
        <p:txBody>
          <a:bodyPr wrap="square" lIns="0" tIns="0" rIns="0" bIns="0" rtlCol="0" anchor="ctr"/>
          <a:lstStyle/>
          <a:p>
            <a:pPr>
              <a:lnSpc>
                <a:spcPct val="160000"/>
              </a:lnSpc>
            </a:pPr>
            <a:r>
              <a:rPr>
                <a:latin typeface="微软雅黑"/>
                <a:ea typeface="微软雅黑"/>
              </a:rPr>
              <a:t xml:space="preserve">• </a:t>
            </a:r>
            <a:r>
              <a:rPr b="1">
                <a:latin typeface="微软雅黑"/>
                <a:ea typeface="微软雅黑"/>
              </a:rPr>
              <a:t xml:space="preserve">React Flow 电路图编辑器</a:t>
            </a:r>
            <a:r>
              <a:rPr>
                <a:latin typeface="微软雅黑"/>
                <a:ea typeface="微软雅黑"/>
              </a:rPr>
              <a:t xml:space="preserve">（自定义元件节点、拖拽连线、参数编辑）</a:t>
            </a:r>
            <a:r>
              <a:rPr>
                <a:latin typeface="微软雅黑"/>
                <a:ea typeface="微软雅黑"/>
              </a:rPr>
              <a:t xml:space="preserve"> • </a:t>
            </a:r>
            <a:r>
              <a:rPr b="1">
                <a:latin typeface="微软雅黑"/>
                <a:ea typeface="微软雅黑"/>
              </a:rPr>
              <a:t xml:space="preserve">KaTeX 公式渲染</a:t>
            </a:r>
            <a:r>
              <a:rPr>
                <a:latin typeface="微软雅黑"/>
                <a:ea typeface="微软雅黑"/>
              </a:rPr>
              <a:t xml:space="preserve">（~10ms/公式）</a:t>
            </a:r>
          </a:p>
          <a:p>
            <a:pPr>
              <a:lnSpc>
                <a:spcPct val="160000"/>
              </a:lnSpc>
            </a:pPr>
            <a:endPar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r>
              <a:rPr>
                <a:latin typeface="微软雅黑"/>
                <a:ea typeface="微软雅黑"/>
              </a:rPr>
              <a:t xml:space="preserve">• 等效电路图展示 • 分步骤解题交互（展开/折叠/跳转）</a:t>
            </a:r>
            <a:r>
              <a:rPr>
                <a:latin typeface="微软雅黑"/>
                <a:ea typeface="微软雅黑"/>
              </a:rPr>
              <a:t xml:space="preserve"> • </a:t>
            </a:r>
            <a:r>
              <a:rPr b="1">
                <a:latin typeface="微软雅黑"/>
                <a:ea typeface="微软雅黑"/>
              </a:rPr>
              <a:t xml:space="preserve">报告导出</a:t>
            </a:r>
            <a:r>
              <a:rPr>
                <a:latin typeface="微软雅黑"/>
                <a:ea typeface="微软雅黑"/>
              </a:rPr>
              <a:t xml:space="preserve">（PDF/Word/LaTeX）</a:t>
            </a:r>
            <a:r>
              <a:rPr>
                <a:latin typeface="微软雅黑"/>
                <a:ea typeface="微软雅黑"/>
              </a:rPr>
              <a:t xml:space="preserve"> • </a:t>
            </a:r>
            <a:r>
              <a:rPr b="1">
                <a:latin typeface="微软雅黑"/>
                <a:ea typeface="微软雅黑"/>
              </a:rPr>
              <a:t xml:space="preserve">QR 码 + SSE</a:t>
            </a:r>
            <a:r>
              <a:rPr>
                <a:latin typeface="微软雅黑"/>
                <a:ea typeface="微软雅黑"/>
              </a:rPr>
              <a:t xml:space="preserve"> 手机拍照上传联动</a:t>
            </a:r>
          </a:p>
        </p:txBody>
      </p:sp>
      <p:sp>
        <p:nvSpPr>
          <p:cNvPr id="10" name="Shape 8"/>
          <p:cNvSpPr/>
          <p:nvPr/>
        </p:nvSpPr>
        <p:spPr>
          <a:xfrm>
            <a:off x="7823200" y="2463800"/>
            <a:ext cx="609600" cy="254000"/>
          </a:xfrm>
          <a:prstGeom prst="downArrow">
            <a:avLst>
              <a:gd name="adj1" fmla="val 50000"/>
              <a:gd name="adj2" fmla="val 50000"/>
            </a:avLst>
          </a:prstGeom>
          <a:solidFill>
            <a:srgbClr val="5B9BD5"/>
          </a:solidFill>
        </p:spPr>
      </p:sp>
      <p:sp>
        <p:nvSpPr>
          <p:cNvPr id="11" name="Shape 9"/>
          <p:cNvSpPr/>
          <p:nvPr/>
        </p:nvSpPr>
        <p:spPr>
          <a:xfrm>
            <a:off x="508000" y="2768600"/>
            <a:ext cx="15240000" cy="1397000"/>
          </a:xfrm>
          <a:prstGeom prst="roundRect">
            <a:avLst>
              <a:gd name="adj" fmla="val 4000"/>
            </a:avLst>
          </a:prstGeom>
          <a:solidFill>
            <a:srgbClr val="5B9BD5"/>
          </a:solidFill>
        </p:spPr>
      </p:sp>
      <p:sp>
        <p:nvSpPr>
          <p:cNvPr id="12" name="Text 10"/>
          <p:cNvSpPr/>
          <p:nvPr/>
        </p:nvSpPr>
        <p:spPr>
          <a:xfrm>
            <a:off x="762000" y="2844800"/>
            <a:ext cx="1778000" cy="304800"/>
          </a:xfrm>
          <a:prstGeom prst="rect">
            <a:avLst/>
          </a:prstGeom>
          <a:noFill/>
        </p:spPr>
        <p:txBody>
          <a:bodyPr wrap="none" lIns="0" tIns="0" rIns="0" bIns="0" rtlCol="0" anchor="ctr"/>
          <a:lstStyle/>
          <a:p>
            <a:pPr>
              <a:lnSpc>
                <a:spcPct val="100000"/>
              </a:lnSpc>
            </a:pPr>
            <a:r>
              <a:rPr lang="en-US" b="1" dirty="0">
                <a:solidFill>
                  <a:srgbClr val="FFFFFF">
                    <a:alpha val="53333"/>
                  </a:srgbClr>
                </a:solidFill>
                <a:latin typeface="微软雅黑" panose="020B0503020204020204" pitchFamily="34" charset="-122"/>
                <a:ea typeface="微软雅黑" panose="020B0503020204020204" pitchFamily="34" charset="-122"/>
                <a:cs typeface="Quattrocento Sans" panose="020B0502050000020003" pitchFamily="34" charset="-120"/>
              </a:rPr>
              <a:t>分析引擎层</a:t>
            </a:r>
          </a:p>
        </p:txBody>
      </p:sp>
      <p:sp>
        <p:nvSpPr>
          <p:cNvPr id="13" name="Text 11"/>
          <p:cNvSpPr/>
          <p:nvPr/>
        </p:nvSpPr>
        <p:spPr>
          <a:xfrm>
            <a:off x="762000" y="3200400"/>
            <a:ext cx="14732000" cy="838200"/>
          </a:xfrm>
          <a:prstGeom prst="rect">
            <a:avLst/>
          </a:prstGeom>
          <a:noFill/>
        </p:spPr>
        <p:txBody>
          <a:bodyPr wrap="square" lIns="0" tIns="0" rIns="0" bIns="0" rtlCol="0" anchor="ctr"/>
          <a:lstStyle/>
          <a:p>
            <a:pPr>
              <a:lnSpc>
                <a:spcPct val="160000"/>
              </a:lnSpc>
            </a:pPr>
            <a:r>
              <a:rPr>
                <a:latin typeface="微软雅黑"/>
                <a:ea typeface="微软雅黑"/>
              </a:rPr>
              <a:t xml:space="preserve">• </a:t>
            </a:r>
            <a:r>
              <a:rPr b="1">
                <a:latin typeface="微软雅黑"/>
                <a:ea typeface="微软雅黑"/>
              </a:rPr>
              <a:t xml:space="preserve">课程规则层</a:t>
            </a:r>
            <a:r>
              <a:rPr>
                <a:latin typeface="微软雅黑"/>
                <a:ea typeface="微软雅黑"/>
              </a:rPr>
              <a:t xml:space="preserve">：5 类题型策略（二极管/BJT 偏置/BJT 小信号/MOS 偏置/MOS 小信号）</a:t>
            </a:r>
            <a:r>
              <a:rPr b="1">
                <a:latin typeface="微软雅黑"/>
                <a:ea typeface="微软雅黑"/>
              </a:rPr>
              <a:t xml:space="preserve"> • </a:t>
            </a:r>
            <a:r>
              <a:rPr b="1">
                <a:latin typeface="微软雅黑"/>
                <a:ea typeface="微软雅黑"/>
              </a:rPr>
              <a:t xml:space="preserve">符号工具</a:t>
            </a:r>
            <a:r>
              <a:rPr>
                <a:latin typeface="微软雅黑"/>
                <a:ea typeface="微软雅黑"/>
              </a:rPr>
              <a:t xml:space="preserve">层：</a:t>
            </a:r>
            <a:r>
              <a:rPr>
                <a:latin typeface="微软雅黑"/>
                <a:ea typeface="微软雅黑"/>
              </a:rPr>
              <a:t xml:space="preserve">Lcapy</a:t>
            </a:r>
            <a:r>
              <a:rPr>
                <a:latin typeface="微软雅黑"/>
                <a:ea typeface="微软雅黑"/>
              </a:rPr>
              <a:t xml:space="preserve">（MNA 符号求解）+</a:t>
            </a:r>
            <a:r>
              <a:rPr>
                <a:latin typeface="微软雅黑"/>
                <a:ea typeface="微软雅黑"/>
              </a:rPr>
              <a:t xml:space="preserve">SymPy</a:t>
            </a:r>
            <a:r>
              <a:rPr>
                <a:latin typeface="微软雅黑"/>
                <a:ea typeface="微软雅黑"/>
              </a:rPr>
              <a:t xml:space="preserve">（化简/变换）+</a:t>
            </a:r>
            <a:r>
              <a:rPr>
                <a:latin typeface="微软雅黑"/>
                <a:ea typeface="微软雅黑"/>
              </a:rPr>
              <a:t xml:space="preserve">PySpice</a:t>
            </a:r>
            <a:r>
              <a:rPr>
                <a:latin typeface="微软雅黑"/>
                <a:ea typeface="微软雅黑"/>
              </a:rPr>
              <a:t xml:space="preserve">（数值校验）</a:t>
            </a:r>
          </a:p>
          <a:p>
            <a:pPr>
              <a:lnSpc>
                <a:spcPct val="160000"/>
              </a:lnSpc>
            </a:pPr>
            <a:r>
              <a:rPr>
                <a:latin typeface="微软雅黑"/>
                <a:ea typeface="微软雅黑"/>
              </a:rPr>
              <a:t xml:space="preserve">• 三重保护：超时控制→复杂度限制→降级为数值求解</a:t>
            </a:r>
            <a:r>
              <a:rPr>
                <a:latin typeface="微软雅黑"/>
                <a:ea typeface="微软雅黑"/>
              </a:rPr>
              <a:t xml:space="preserve"> • </a:t>
            </a:r>
            <a:r>
              <a:rPr>
                <a:latin typeface="微软雅黑"/>
                <a:ea typeface="微软雅黑"/>
              </a:rPr>
              <a:t xml:space="preserve">输出结构化 AnalysisResult</a:t>
            </a:r>
            <a:r>
              <a:rPr>
                <a:latin typeface="微软雅黑"/>
                <a:ea typeface="微软雅黑"/>
              </a:rPr>
              <a:t xml:space="preserve">（等效电路、方程、步骤、知识点）</a:t>
            </a:r>
          </a:p>
        </p:txBody>
      </p:sp>
      <p:sp>
        <p:nvSpPr>
          <p:cNvPr id="14" name="Shape 12"/>
          <p:cNvSpPr/>
          <p:nvPr/>
        </p:nvSpPr>
        <p:spPr>
          <a:xfrm>
            <a:off x="7823200" y="4191000"/>
            <a:ext cx="609600" cy="254000"/>
          </a:xfrm>
          <a:prstGeom prst="downArrow">
            <a:avLst>
              <a:gd name="adj1" fmla="val 50000"/>
              <a:gd name="adj2" fmla="val 50000"/>
            </a:avLst>
          </a:prstGeom>
          <a:solidFill>
            <a:srgbClr val="5B9BD5"/>
          </a:solidFill>
        </p:spPr>
      </p:sp>
      <p:sp>
        <p:nvSpPr>
          <p:cNvPr id="15" name="Shape 13"/>
          <p:cNvSpPr/>
          <p:nvPr/>
        </p:nvSpPr>
        <p:spPr>
          <a:xfrm>
            <a:off x="508000" y="4495800"/>
            <a:ext cx="15240000" cy="1397000"/>
          </a:xfrm>
          <a:prstGeom prst="roundRect">
            <a:avLst>
              <a:gd name="adj" fmla="val 4000"/>
            </a:avLst>
          </a:prstGeom>
          <a:solidFill>
            <a:srgbClr val="2E86C1"/>
          </a:solidFill>
        </p:spPr>
      </p:sp>
      <p:sp>
        <p:nvSpPr>
          <p:cNvPr id="16" name="Text 14"/>
          <p:cNvSpPr/>
          <p:nvPr/>
        </p:nvSpPr>
        <p:spPr>
          <a:xfrm>
            <a:off x="762000" y="4572000"/>
            <a:ext cx="1778000" cy="304800"/>
          </a:xfrm>
          <a:prstGeom prst="rect">
            <a:avLst/>
          </a:prstGeom>
          <a:noFill/>
        </p:spPr>
        <p:txBody>
          <a:bodyPr wrap="none" lIns="0" tIns="0" rIns="0" bIns="0" rtlCol="0" anchor="ctr"/>
          <a:lstStyle/>
          <a:p>
            <a:pPr>
              <a:lnSpc>
                <a:spcPct val="100000"/>
              </a:lnSpc>
            </a:pPr>
            <a:r>
              <a:rPr lang="en-US" b="1" dirty="0">
                <a:solidFill>
                  <a:srgbClr val="FFFFFF">
                    <a:alpha val="53333"/>
                  </a:srgbClr>
                </a:solidFill>
                <a:latin typeface="微软雅黑" panose="020B0503020204020204" pitchFamily="34" charset="-122"/>
                <a:ea typeface="微软雅黑" panose="020B0503020204020204" pitchFamily="34" charset="-122"/>
                <a:cs typeface="Quattrocento Sans" panose="020B0502050000020003" pitchFamily="34" charset="-120"/>
              </a:rPr>
              <a:t>图像处理层</a:t>
            </a:r>
          </a:p>
        </p:txBody>
      </p:sp>
      <p:sp>
        <p:nvSpPr>
          <p:cNvPr id="17" name="Text 15"/>
          <p:cNvSpPr/>
          <p:nvPr/>
        </p:nvSpPr>
        <p:spPr>
          <a:xfrm>
            <a:off x="762000" y="4927600"/>
            <a:ext cx="14897100" cy="838200"/>
          </a:xfrm>
          <a:prstGeom prst="rect">
            <a:avLst/>
          </a:prstGeom>
          <a:noFill/>
        </p:spPr>
        <p:txBody>
          <a:bodyPr wrap="square" lIns="0" tIns="0" rIns="0" bIns="0" rtlCol="0" anchor="ctr"/>
          <a:lstStyle/>
          <a:p>
            <a:pPr>
              <a:lnSpc>
                <a:spcPct val="160000"/>
              </a:lnSpc>
            </a:pPr>
            <a:r>
              <a:rPr dirty="0">
                <a:solidFill>
                  <a:schemeClr val="bg1"/>
                </a:solidFill>
                <a:latin typeface="微软雅黑"/>
                <a:ea typeface="微软雅黑"/>
              </a:rPr>
              <a:t>• </a:t>
            </a:r>
            <a:r>
              <a:rPr b="1" dirty="0">
                <a:solidFill>
                  <a:schemeClr val="bg1"/>
                </a:solidFill>
                <a:latin typeface="微软雅黑"/>
                <a:ea typeface="微软雅黑"/>
              </a:rPr>
              <a:t>OpenCV </a:t>
            </a:r>
            <a:r>
              <a:rPr b="1" dirty="0" err="1">
                <a:solidFill>
                  <a:schemeClr val="bg1"/>
                </a:solidFill>
                <a:latin typeface="微软雅黑"/>
                <a:ea typeface="微软雅黑"/>
              </a:rPr>
              <a:t>预处理</a:t>
            </a:r>
            <a:r>
              <a:rPr dirty="0" err="1">
                <a:solidFill>
                  <a:schemeClr val="bg1"/>
                </a:solidFill>
                <a:latin typeface="微软雅黑"/>
                <a:ea typeface="微软雅黑"/>
              </a:rPr>
              <a:t>：灰度化、二值化、去噪、透视</a:t>
            </a:r>
            <a:r>
              <a:rPr dirty="0">
                <a:solidFill>
                  <a:schemeClr val="bg1"/>
                </a:solidFill>
                <a:latin typeface="微软雅黑"/>
                <a:ea typeface="微软雅黑"/>
              </a:rPr>
              <a:t>/</a:t>
            </a:r>
            <a:r>
              <a:rPr dirty="0" err="1">
                <a:solidFill>
                  <a:schemeClr val="bg1"/>
                </a:solidFill>
                <a:latin typeface="微软雅黑"/>
                <a:ea typeface="微软雅黑"/>
              </a:rPr>
              <a:t>倾斜校正</a:t>
            </a:r>
            <a:r>
              <a:rPr dirty="0">
                <a:solidFill>
                  <a:schemeClr val="bg1"/>
                </a:solidFill>
                <a:latin typeface="微软雅黑"/>
                <a:ea typeface="微软雅黑"/>
              </a:rPr>
              <a:t> • </a:t>
            </a:r>
            <a:r>
              <a:rPr b="1" dirty="0">
                <a:solidFill>
                  <a:schemeClr val="bg1"/>
                </a:solidFill>
                <a:latin typeface="微软雅黑"/>
                <a:ea typeface="微软雅黑"/>
              </a:rPr>
              <a:t>YOLOv8 </a:t>
            </a:r>
            <a:r>
              <a:rPr b="1" dirty="0" err="1">
                <a:solidFill>
                  <a:schemeClr val="bg1"/>
                </a:solidFill>
                <a:latin typeface="微软雅黑"/>
                <a:ea typeface="微软雅黑"/>
              </a:rPr>
              <a:t>元件检测</a:t>
            </a:r>
            <a:r>
              <a:rPr dirty="0">
                <a:solidFill>
                  <a:schemeClr val="bg1"/>
                </a:solidFill>
                <a:latin typeface="微软雅黑"/>
                <a:ea typeface="微软雅黑"/>
              </a:rPr>
              <a:t>（~15–19 </a:t>
            </a:r>
            <a:r>
              <a:rPr dirty="0" err="1">
                <a:solidFill>
                  <a:schemeClr val="bg1"/>
                </a:solidFill>
                <a:latin typeface="微软雅黑"/>
                <a:ea typeface="微软雅黑"/>
              </a:rPr>
              <a:t>类，CPU</a:t>
            </a:r>
            <a:r>
              <a:rPr dirty="0">
                <a:solidFill>
                  <a:schemeClr val="bg1"/>
                </a:solidFill>
                <a:latin typeface="微软雅黑"/>
                <a:ea typeface="微软雅黑"/>
              </a:rPr>
              <a:t> ~100–150ms/帧） + </a:t>
            </a:r>
            <a:r>
              <a:rPr b="1" dirty="0" err="1">
                <a:solidFill>
                  <a:schemeClr val="bg1"/>
                </a:solidFill>
                <a:latin typeface="微软雅黑"/>
                <a:ea typeface="微软雅黑"/>
              </a:rPr>
              <a:t>PaddleOCR</a:t>
            </a:r>
            <a:r>
              <a:rPr b="1" dirty="0">
                <a:solidFill>
                  <a:schemeClr val="bg1"/>
                </a:solidFill>
                <a:latin typeface="微软雅黑"/>
                <a:ea typeface="微软雅黑"/>
              </a:rPr>
              <a:t> </a:t>
            </a:r>
            <a:r>
              <a:rPr b="1" dirty="0" err="1">
                <a:solidFill>
                  <a:schemeClr val="bg1"/>
                </a:solidFill>
                <a:latin typeface="微软雅黑"/>
                <a:ea typeface="微软雅黑"/>
              </a:rPr>
              <a:t>参数识别</a:t>
            </a:r>
            <a:r>
              <a:rPr dirty="0">
                <a:solidFill>
                  <a:schemeClr val="bg1"/>
                </a:solidFill>
                <a:latin typeface="微软雅黑"/>
                <a:ea typeface="微软雅黑"/>
              </a:rPr>
              <a:t>• </a:t>
            </a:r>
            <a:r>
              <a:rPr b="1" dirty="0" err="1">
                <a:solidFill>
                  <a:schemeClr val="bg1"/>
                </a:solidFill>
                <a:latin typeface="微软雅黑"/>
                <a:ea typeface="微软雅黑"/>
              </a:rPr>
              <a:t>导线</a:t>
            </a:r>
            <a:r>
              <a:rPr b="1" dirty="0">
                <a:solidFill>
                  <a:schemeClr val="bg1"/>
                </a:solidFill>
                <a:latin typeface="微软雅黑"/>
                <a:ea typeface="微软雅黑"/>
              </a:rPr>
              <a:t>/</a:t>
            </a:r>
            <a:r>
              <a:rPr b="1" dirty="0" err="1">
                <a:solidFill>
                  <a:schemeClr val="bg1"/>
                </a:solidFill>
                <a:latin typeface="微软雅黑"/>
                <a:ea typeface="微软雅黑"/>
              </a:rPr>
              <a:t>节点识别</a:t>
            </a:r>
            <a:r>
              <a:rPr dirty="0" err="1">
                <a:solidFill>
                  <a:schemeClr val="bg1"/>
                </a:solidFill>
                <a:latin typeface="微软雅黑"/>
                <a:ea typeface="微软雅黑"/>
              </a:rPr>
              <a:t>（FLD</a:t>
            </a:r>
            <a:r>
              <a:rPr dirty="0">
                <a:solidFill>
                  <a:schemeClr val="bg1"/>
                </a:solidFill>
                <a:latin typeface="微软雅黑"/>
                <a:ea typeface="微软雅黑"/>
              </a:rPr>
              <a:t> </a:t>
            </a:r>
            <a:r>
              <a:rPr dirty="0" err="1">
                <a:solidFill>
                  <a:schemeClr val="bg1"/>
                </a:solidFill>
                <a:latin typeface="微软雅黑"/>
                <a:ea typeface="微软雅黑"/>
              </a:rPr>
              <a:t>线段检测</a:t>
            </a:r>
            <a:r>
              <a:rPr dirty="0">
                <a:solidFill>
                  <a:schemeClr val="bg1"/>
                </a:solidFill>
                <a:latin typeface="微软雅黑"/>
                <a:ea typeface="微软雅黑"/>
              </a:rPr>
              <a:t> + </a:t>
            </a:r>
            <a:r>
              <a:rPr dirty="0" err="1">
                <a:solidFill>
                  <a:schemeClr val="bg1"/>
                </a:solidFill>
                <a:latin typeface="微软雅黑"/>
                <a:ea typeface="微软雅黑"/>
              </a:rPr>
              <a:t>节点聚类</a:t>
            </a:r>
            <a:r>
              <a:rPr dirty="0">
                <a:solidFill>
                  <a:schemeClr val="bg1"/>
                </a:solidFill>
                <a:latin typeface="微软雅黑"/>
                <a:ea typeface="微软雅黑"/>
              </a:rPr>
              <a:t>），</a:t>
            </a:r>
            <a:r>
              <a:rPr dirty="0" err="1">
                <a:solidFill>
                  <a:schemeClr val="bg1"/>
                </a:solidFill>
                <a:latin typeface="微软雅黑"/>
                <a:ea typeface="微软雅黑"/>
              </a:rPr>
              <a:t>生成候选拓扑并提示可疑点</a:t>
            </a:r>
            <a:r>
              <a:rPr dirty="0">
                <a:solidFill>
                  <a:schemeClr val="bg1"/>
                </a:solidFill>
                <a:latin typeface="微软雅黑"/>
                <a:ea typeface="微软雅黑"/>
              </a:rPr>
              <a:t> • ONNX Runtime </a:t>
            </a:r>
            <a:r>
              <a:rPr dirty="0" err="1">
                <a:solidFill>
                  <a:schemeClr val="bg1"/>
                </a:solidFill>
                <a:latin typeface="微软雅黑"/>
                <a:ea typeface="微软雅黑"/>
              </a:rPr>
              <a:t>统一部署，总模型</a:t>
            </a:r>
            <a:r>
              <a:rPr dirty="0">
                <a:solidFill>
                  <a:schemeClr val="bg1"/>
                </a:solidFill>
                <a:latin typeface="微软雅黑"/>
                <a:ea typeface="微软雅黑"/>
              </a:rPr>
              <a:t> ~40MB</a:t>
            </a:r>
          </a:p>
        </p:txBody>
      </p:sp>
      <p:sp>
        <p:nvSpPr>
          <p:cNvPr id="18" name="Shape 16"/>
          <p:cNvSpPr/>
          <p:nvPr/>
        </p:nvSpPr>
        <p:spPr>
          <a:xfrm>
            <a:off x="7823200" y="5918200"/>
            <a:ext cx="609600" cy="254000"/>
          </a:xfrm>
          <a:prstGeom prst="downArrow">
            <a:avLst>
              <a:gd name="adj1" fmla="val 50000"/>
              <a:gd name="adj2" fmla="val 50000"/>
            </a:avLst>
          </a:prstGeom>
          <a:solidFill>
            <a:srgbClr val="5B9BD5"/>
          </a:solidFill>
        </p:spPr>
      </p:sp>
      <p:sp>
        <p:nvSpPr>
          <p:cNvPr id="19" name="Shape 17"/>
          <p:cNvSpPr/>
          <p:nvPr/>
        </p:nvSpPr>
        <p:spPr>
          <a:xfrm>
            <a:off x="508000" y="6223000"/>
            <a:ext cx="15240000" cy="1016000"/>
          </a:xfrm>
          <a:prstGeom prst="roundRect">
            <a:avLst>
              <a:gd name="adj" fmla="val 4000"/>
            </a:avLst>
          </a:prstGeom>
          <a:solidFill>
            <a:srgbClr val="455A64"/>
          </a:solidFill>
        </p:spPr>
      </p:sp>
      <p:sp>
        <p:nvSpPr>
          <p:cNvPr id="20" name="Text 18"/>
          <p:cNvSpPr/>
          <p:nvPr/>
        </p:nvSpPr>
        <p:spPr>
          <a:xfrm>
            <a:off x="762000" y="6299200"/>
            <a:ext cx="1270000" cy="304800"/>
          </a:xfrm>
          <a:prstGeom prst="rect">
            <a:avLst/>
          </a:prstGeom>
          <a:noFill/>
        </p:spPr>
        <p:txBody>
          <a:bodyPr wrap="none" lIns="0" tIns="0" rIns="0" bIns="0" rtlCol="0" anchor="ctr"/>
          <a:lstStyle/>
          <a:p>
            <a:pPr>
              <a:lnSpc>
                <a:spcPct val="100000"/>
              </a:lnSpc>
            </a:pPr>
            <a:r>
              <a:rPr lang="en-US" b="1" dirty="0">
                <a:solidFill>
                  <a:srgbClr val="FFFFFF">
                    <a:alpha val="53333"/>
                  </a:srgbClr>
                </a:solidFill>
                <a:latin typeface="微软雅黑" panose="020B0503020204020204" pitchFamily="34" charset="-122"/>
                <a:ea typeface="微软雅黑" panose="020B0503020204020204" pitchFamily="34" charset="-122"/>
                <a:cs typeface="Quattrocento Sans" panose="020B0502050000020003" pitchFamily="34" charset="-120"/>
              </a:rPr>
              <a:t>数据层</a:t>
            </a:r>
          </a:p>
        </p:txBody>
      </p:sp>
      <p:sp>
        <p:nvSpPr>
          <p:cNvPr id="21" name="Text 19"/>
          <p:cNvSpPr/>
          <p:nvPr/>
        </p:nvSpPr>
        <p:spPr>
          <a:xfrm>
            <a:off x="762000" y="6654800"/>
            <a:ext cx="14732000" cy="457200"/>
          </a:xfrm>
          <a:prstGeom prst="rect">
            <a:avLst/>
          </a:prstGeom>
          <a:noFill/>
        </p:spPr>
        <p:txBody>
          <a:bodyPr wrap="square" lIns="0" tIns="0" rIns="0" bIns="0" rtlCol="0" anchor="ctr"/>
          <a:lstStyle/>
          <a:p>
            <a:pPr>
              <a:lnSpc>
                <a:spcPct val="150000"/>
              </a:lnSpc>
            </a:pPr>
            <a:endPar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r>
              <a:rPr>
                <a:latin typeface="微软雅黑"/>
                <a:ea typeface="微软雅黑"/>
              </a:rPr>
              <a:t xml:space="preserve">• </a:t>
            </a:r>
            <a:r>
              <a:rPr b="1">
                <a:latin typeface="微软雅黑"/>
                <a:ea typeface="微软雅黑"/>
              </a:rPr>
              <a:t xml:space="preserve">Zod Schema</a:t>
            </a:r>
            <a:r>
              <a:rPr>
                <a:latin typeface="微软雅黑"/>
                <a:ea typeface="微软雅黑"/>
              </a:rPr>
              <a:t xml:space="preserve"> 作为事实来源 • </a:t>
            </a:r>
            <a:r>
              <a:rPr b="1">
                <a:latin typeface="微软雅黑"/>
                <a:ea typeface="微软雅黑"/>
              </a:rPr>
              <a:t xml:space="preserve">NEC 三元组</a:t>
            </a:r>
            <a:r>
              <a:rPr>
                <a:latin typeface="微软雅黑"/>
                <a:ea typeface="微软雅黑"/>
              </a:rPr>
              <a:t xml:space="preserve"> 电路图表示 • </a:t>
            </a:r>
            <a:r>
              <a:rPr b="1">
                <a:latin typeface="微软雅黑"/>
                <a:ea typeface="微软雅黑"/>
              </a:rPr>
              <a:t xml:space="preserve">19 元件五维定义</a:t>
            </a:r>
            <a:r>
              <a:rPr>
                <a:latin typeface="微软雅黑"/>
                <a:ea typeface="微软雅黑"/>
              </a:rPr>
              <a:t xml:space="preserve"> • </a:t>
            </a:r>
            <a:r>
              <a:rPr>
                <a:latin typeface="微软雅黑"/>
                <a:ea typeface="微软雅黑"/>
              </a:rPr>
              <a:t xml:space="preserve">JSON Schema</a:t>
            </a:r>
            <a:r>
              <a:rPr>
                <a:latin typeface="微软雅黑"/>
                <a:ea typeface="微软雅黑"/>
              </a:rPr>
              <a:t xml:space="preserve"> 跨语言导出 • </a:t>
            </a:r>
            <a:r>
              <a:rPr>
                <a:latin typeface="微软雅黑"/>
                <a:ea typeface="微软雅黑"/>
              </a:rPr>
              <a:t xml:space="preserve">校验器</a:t>
            </a:r>
            <a:r>
              <a:rPr>
                <a:latin typeface="微软雅黑"/>
                <a:ea typeface="微软雅黑"/>
              </a:rPr>
              <a:t xml:space="preserve">（报告不阻断）</a:t>
            </a:r>
          </a:p>
        </p:txBody>
      </p:sp>
      <p:sp>
        <p:nvSpPr>
          <p:cNvPr id="24" name="Text 22"/>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10</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6096000" y="1778000"/>
            <a:ext cx="12700" cy="5588000"/>
          </a:xfrm>
          <a:prstGeom prst="rect">
            <a:avLst/>
          </a:prstGeom>
          <a:solidFill>
            <a:srgbClr val="E0E0E0"/>
          </a:solidFill>
        </p:spPr>
      </p:sp>
      <p:sp>
        <p:nvSpPr>
          <p:cNvPr id="4" name="Text 2"/>
          <p:cNvSpPr/>
          <p:nvPr/>
        </p:nvSpPr>
        <p:spPr>
          <a:xfrm>
            <a:off x="762000" y="2540000"/>
            <a:ext cx="4826000" cy="2540000"/>
          </a:xfrm>
          <a:prstGeom prst="rect">
            <a:avLst/>
          </a:prstGeom>
          <a:noFill/>
        </p:spPr>
        <p:txBody>
          <a:bodyPr wrap="none" lIns="0" tIns="0" rIns="0" bIns="0" rtlCol="0" anchor="ctr"/>
          <a:lstStyle/>
          <a:p>
            <a:pPr algn="ctr">
              <a:lnSpc>
                <a:spcPct val="100000"/>
              </a:lnSpc>
            </a:pPr>
            <a:r>
              <a:rPr lang="en-US" sz="120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04</a:t>
            </a:r>
          </a:p>
        </p:txBody>
      </p:sp>
      <p:sp>
        <p:nvSpPr>
          <p:cNvPr id="5" name="Text 3"/>
          <p:cNvSpPr/>
          <p:nvPr/>
        </p:nvSpPr>
        <p:spPr>
          <a:xfrm>
            <a:off x="762000" y="5080000"/>
            <a:ext cx="4826000" cy="355600"/>
          </a:xfrm>
          <a:prstGeom prst="rect">
            <a:avLst/>
          </a:prstGeom>
          <a:noFill/>
        </p:spPr>
        <p:txBody>
          <a:bodyPr wrap="none" lIns="0" tIns="0" rIns="0" bIns="0" rtlCol="0" anchor="ctr"/>
          <a:lstStyle/>
          <a:p>
            <a:pPr algn="ctr">
              <a:lnSpc>
                <a:spcPct val="100000"/>
              </a:lnSpc>
            </a:pPr>
            <a:r>
              <a:rPr lang="en-US" sz="1600"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CHAPTER FOUR</a:t>
            </a:r>
          </a:p>
        </p:txBody>
      </p:sp>
      <p:sp>
        <p:nvSpPr>
          <p:cNvPr id="6" name="Text 4"/>
          <p:cNvSpPr/>
          <p:nvPr/>
        </p:nvSpPr>
        <p:spPr>
          <a:xfrm>
            <a:off x="6604000" y="2997200"/>
            <a:ext cx="8890000" cy="711200"/>
          </a:xfrm>
          <a:prstGeom prst="rect">
            <a:avLst/>
          </a:prstGeom>
          <a:noFill/>
        </p:spPr>
        <p:txBody>
          <a:bodyPr wrap="none" lIns="0" tIns="0" rIns="0" bIns="0" rtlCol="0" anchor="ctr"/>
          <a:lstStyle/>
          <a:p>
            <a:pPr>
              <a:lnSpc>
                <a:spcPct val="100000"/>
              </a:lnSpc>
            </a:pPr>
            <a:r>
              <a:rPr lang="en-US" sz="4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核心创新点</a:t>
            </a:r>
          </a:p>
        </p:txBody>
      </p:sp>
      <p:sp>
        <p:nvSpPr>
          <p:cNvPr id="7" name="Text 5"/>
          <p:cNvSpPr/>
          <p:nvPr/>
        </p:nvSpPr>
        <p:spPr>
          <a:xfrm>
            <a:off x="6604000" y="3835400"/>
            <a:ext cx="8890000" cy="355600"/>
          </a:xfrm>
          <a:prstGeom prst="rect">
            <a:avLst/>
          </a:prstGeom>
          <a:noFill/>
        </p:spPr>
        <p:txBody>
          <a:bodyPr wrap="none" lIns="0" tIns="0" rIns="0" bIns="0" rtlCol="0" anchor="ctr"/>
          <a:lstStyle/>
          <a:p>
            <a:pPr>
              <a:lnSpc>
                <a:spcPct val="100000"/>
              </a:lnSpc>
            </a:pPr>
            <a:r>
              <a:rPr lang="en-US" sz="2400"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Core Innovations</a:t>
            </a:r>
          </a:p>
        </p:txBody>
      </p:sp>
      <p:sp>
        <p:nvSpPr>
          <p:cNvPr id="8" name="Shape 6"/>
          <p:cNvSpPr/>
          <p:nvPr/>
        </p:nvSpPr>
        <p:spPr>
          <a:xfrm>
            <a:off x="6604000" y="4572000"/>
            <a:ext cx="4064000" cy="12700"/>
          </a:xfrm>
          <a:prstGeom prst="rect">
            <a:avLst/>
          </a:prstGeom>
          <a:solidFill>
            <a:srgbClr val="E0E0E0"/>
          </a:solidFill>
        </p:spPr>
      </p:sp>
      <p:sp>
        <p:nvSpPr>
          <p:cNvPr id="11" name="Text 9"/>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11</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304800"/>
            <a:ext cx="10668000" cy="457200"/>
          </a:xfrm>
          <a:prstGeom prst="rect">
            <a:avLst/>
          </a:prstGeom>
          <a:noFill/>
        </p:spPr>
        <p:txBody>
          <a:bodyPr wrap="none" lIns="0" tIns="0" rIns="0" bIns="0" rtlCol="0" anchor="ctr"/>
          <a:lstStyle/>
          <a:p>
            <a:pPr>
              <a:lnSpc>
                <a:spcPct val="100000"/>
              </a:lnSpc>
            </a:pPr>
            <a:r>
              <a:rPr 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核心创新点</a:t>
            </a:r>
          </a:p>
        </p:txBody>
      </p:sp>
      <p:sp>
        <p:nvSpPr>
          <p:cNvPr id="6" name="Shape 4"/>
          <p:cNvSpPr/>
          <p:nvPr/>
        </p:nvSpPr>
        <p:spPr>
          <a:xfrm>
            <a:off x="508000" y="876935"/>
            <a:ext cx="15240000" cy="12700"/>
          </a:xfrm>
          <a:prstGeom prst="rect">
            <a:avLst/>
          </a:prstGeom>
          <a:solidFill>
            <a:srgbClr val="E0E0E0"/>
          </a:solidFill>
        </p:spPr>
      </p:sp>
      <p:sp>
        <p:nvSpPr>
          <p:cNvPr id="7" name="Shape 5"/>
          <p:cNvSpPr/>
          <p:nvPr/>
        </p:nvSpPr>
        <p:spPr>
          <a:xfrm>
            <a:off x="850900" y="1119505"/>
            <a:ext cx="11726545" cy="1397000"/>
          </a:xfrm>
          <a:prstGeom prst="roundRect">
            <a:avLst>
              <a:gd name="adj" fmla="val 4000"/>
            </a:avLst>
          </a:prstGeom>
          <a:solidFill>
            <a:srgbClr val="1A4A7A"/>
          </a:solidFill>
        </p:spPr>
      </p:sp>
      <p:sp>
        <p:nvSpPr>
          <p:cNvPr id="8" name="Text 6"/>
          <p:cNvSpPr/>
          <p:nvPr/>
        </p:nvSpPr>
        <p:spPr>
          <a:xfrm>
            <a:off x="1003300" y="1195705"/>
            <a:ext cx="635000" cy="355600"/>
          </a:xfrm>
          <a:prstGeom prst="rect">
            <a:avLst/>
          </a:prstGeom>
          <a:noFill/>
        </p:spPr>
        <p:txBody>
          <a:bodyPr wrap="none" lIns="0" tIns="0" rIns="0" bIns="0" rtlCol="0" anchor="ctr"/>
          <a:lstStyle/>
          <a:p>
            <a:pPr>
              <a:lnSpc>
                <a:spcPct val="100000"/>
              </a:lnSpc>
            </a:pPr>
            <a:r>
              <a:rPr lang="en-US" sz="2800" dirty="0">
                <a:solidFill>
                  <a:srgbClr val="FFFFFF">
                    <a:alpha val="31373"/>
                  </a:srgbClr>
                </a:solidFill>
                <a:latin typeface="微软雅黑" panose="020B0503020204020204" pitchFamily="34" charset="-122"/>
                <a:ea typeface="微软雅黑" panose="020B0503020204020204" pitchFamily="34" charset="-122"/>
                <a:cs typeface="Quattrocento Sans" panose="020B0502050000020003" pitchFamily="34" charset="-120"/>
              </a:rPr>
              <a:t>01</a:t>
            </a:r>
          </a:p>
        </p:txBody>
      </p:sp>
      <p:sp>
        <p:nvSpPr>
          <p:cNvPr id="9" name="Text 7"/>
          <p:cNvSpPr/>
          <p:nvPr/>
        </p:nvSpPr>
        <p:spPr>
          <a:xfrm>
            <a:off x="1714500" y="1195705"/>
            <a:ext cx="6324600" cy="355600"/>
          </a:xfrm>
          <a:prstGeom prst="rect">
            <a:avLst/>
          </a:prstGeom>
          <a:noFill/>
        </p:spPr>
        <p:txBody>
          <a:bodyPr wrap="none" lIns="0" tIns="0" rIns="0" bIns="0" rtlCol="0" anchor="ctr"/>
          <a:lstStyle/>
          <a:p>
            <a:pPr>
              <a:lnSpc>
                <a:spcPct val="100000"/>
              </a:lnSpc>
            </a:pPr>
            <a:r>
              <a:rPr lang="en-US" sz="2000" b="1" dirty="0">
                <a:solidFill>
                  <a:srgbClr val="FFFFFF"/>
                </a:solidFill>
                <a:latin typeface="微软雅黑" panose="020B0503020204020204" pitchFamily="34" charset="-122"/>
                <a:ea typeface="微软雅黑" panose="020B0503020204020204" pitchFamily="34" charset="-122"/>
                <a:cs typeface="Quattrocento Sans" panose="020B0502050000020003" pitchFamily="34" charset="-120"/>
              </a:rPr>
              <a:t>闭环连接创新</a:t>
            </a:r>
          </a:p>
        </p:txBody>
      </p:sp>
      <p:sp>
        <p:nvSpPr>
          <p:cNvPr id="10" name="Text 8"/>
          <p:cNvSpPr/>
          <p:nvPr/>
        </p:nvSpPr>
        <p:spPr>
          <a:xfrm>
            <a:off x="1003300" y="1602105"/>
            <a:ext cx="11233785" cy="812800"/>
          </a:xfrm>
          <a:prstGeom prst="rect">
            <a:avLst/>
          </a:prstGeom>
          <a:noFill/>
        </p:spPr>
        <p:txBody>
          <a:bodyPr wrap="square" lIns="0" tIns="0" rIns="0" bIns="0" rtlCol="0" anchor="ctr"/>
          <a:lstStyle/>
          <a:p>
            <a:pPr>
              <a:lnSpc>
                <a:spcPct val="150000"/>
              </a:lnSpc>
            </a:pPr>
            <a:r>
              <a:rPr lang="en-US" sz="1600"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"电路图采集 → 拓扑校正 → 符号分析 → 等效电路展示 → 教学解释 → LaTeX导出"的</a:t>
            </a:r>
            <a:r>
              <a:rPr lang="en-US" sz="1600" b="1"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完整闭环</a:t>
            </a:r>
            <a:r>
              <a:rPr lang="en-US" sz="1600"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，打通从图像到教学的全链路。</a:t>
            </a:r>
          </a:p>
        </p:txBody>
      </p:sp>
      <p:sp>
        <p:nvSpPr>
          <p:cNvPr id="15" name="Shape 13"/>
          <p:cNvSpPr/>
          <p:nvPr/>
        </p:nvSpPr>
        <p:spPr>
          <a:xfrm>
            <a:off x="850900" y="2746375"/>
            <a:ext cx="11763375" cy="1397000"/>
          </a:xfrm>
          <a:prstGeom prst="roundRect">
            <a:avLst>
              <a:gd name="adj" fmla="val 4000"/>
            </a:avLst>
          </a:prstGeom>
          <a:solidFill>
            <a:srgbClr val="2E86C1"/>
          </a:solidFill>
        </p:spPr>
      </p:sp>
      <p:sp>
        <p:nvSpPr>
          <p:cNvPr id="16" name="Text 14"/>
          <p:cNvSpPr/>
          <p:nvPr/>
        </p:nvSpPr>
        <p:spPr>
          <a:xfrm>
            <a:off x="1003300" y="2822575"/>
            <a:ext cx="635000" cy="355600"/>
          </a:xfrm>
          <a:prstGeom prst="rect">
            <a:avLst/>
          </a:prstGeom>
          <a:noFill/>
        </p:spPr>
        <p:txBody>
          <a:bodyPr wrap="none" lIns="0" tIns="0" rIns="0" bIns="0" rtlCol="0" anchor="ctr"/>
          <a:lstStyle/>
          <a:p>
            <a:pPr>
              <a:lnSpc>
                <a:spcPct val="100000"/>
              </a:lnSpc>
            </a:pPr>
            <a:r>
              <a:rPr lang="en-US" sz="2800" dirty="0">
                <a:solidFill>
                  <a:srgbClr val="FFFFFF">
                    <a:alpha val="31373"/>
                  </a:srgbClr>
                </a:solidFill>
                <a:latin typeface="微软雅黑" panose="020B0503020204020204" pitchFamily="34" charset="-122"/>
                <a:ea typeface="微软雅黑" panose="020B0503020204020204" pitchFamily="34" charset="-122"/>
                <a:cs typeface="Quattrocento Sans" panose="020B0502050000020003" pitchFamily="34" charset="-120"/>
              </a:rPr>
              <a:t>02</a:t>
            </a:r>
          </a:p>
        </p:txBody>
      </p:sp>
      <p:sp>
        <p:nvSpPr>
          <p:cNvPr id="17" name="Text 15"/>
          <p:cNvSpPr/>
          <p:nvPr/>
        </p:nvSpPr>
        <p:spPr>
          <a:xfrm>
            <a:off x="1714500" y="2822575"/>
            <a:ext cx="6324600" cy="355600"/>
          </a:xfrm>
          <a:prstGeom prst="rect">
            <a:avLst/>
          </a:prstGeom>
          <a:noFill/>
        </p:spPr>
        <p:txBody>
          <a:bodyPr wrap="none" lIns="0" tIns="0" rIns="0" bIns="0" rtlCol="0" anchor="ctr"/>
          <a:lstStyle/>
          <a:p>
            <a:pPr>
              <a:lnSpc>
                <a:spcPct val="100000"/>
              </a:lnSpc>
            </a:pPr>
            <a:r>
              <a:rPr lang="en-US" sz="2000" b="1" dirty="0">
                <a:solidFill>
                  <a:srgbClr val="FFFFFF"/>
                </a:solidFill>
                <a:latin typeface="微软雅黑" panose="020B0503020204020204" pitchFamily="34" charset="-122"/>
                <a:ea typeface="微软雅黑" panose="020B0503020204020204" pitchFamily="34" charset="-122"/>
                <a:cs typeface="Quattrocento Sans" panose="020B0502050000020003" pitchFamily="34" charset="-120"/>
              </a:rPr>
              <a:t>半自动拓扑校正</a:t>
            </a:r>
          </a:p>
        </p:txBody>
      </p:sp>
      <p:sp>
        <p:nvSpPr>
          <p:cNvPr id="18" name="Text 16"/>
          <p:cNvSpPr/>
          <p:nvPr/>
        </p:nvSpPr>
        <p:spPr>
          <a:xfrm>
            <a:off x="1003300" y="3228975"/>
            <a:ext cx="11028680" cy="812800"/>
          </a:xfrm>
          <a:prstGeom prst="rect">
            <a:avLst/>
          </a:prstGeom>
          <a:noFill/>
        </p:spPr>
        <p:txBody>
          <a:bodyPr wrap="square" lIns="0" tIns="0" rIns="0" bIns="0" rtlCol="0" anchor="ctr"/>
          <a:lstStyle/>
          <a:p>
            <a:pPr>
              <a:lnSpc>
                <a:spcPct val="150000"/>
              </a:lnSpc>
            </a:pPr>
            <a:r>
              <a:rPr lang="en-US"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图像识别输出候选拓扑和可疑点，</a:t>
            </a:r>
            <a:r>
              <a:rPr lang="en-US" b="1"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用户确认关键事实</a:t>
            </a:r>
            <a:r>
              <a:rPr lang="en-US"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，系统承担专业推导——人机协同保证准确性。</a:t>
            </a:r>
          </a:p>
        </p:txBody>
      </p:sp>
      <p:sp>
        <p:nvSpPr>
          <p:cNvPr id="19" name="Shape 17"/>
          <p:cNvSpPr/>
          <p:nvPr/>
        </p:nvSpPr>
        <p:spPr>
          <a:xfrm>
            <a:off x="850900" y="4449445"/>
            <a:ext cx="11757660" cy="1397000"/>
          </a:xfrm>
          <a:prstGeom prst="roundRect">
            <a:avLst>
              <a:gd name="adj" fmla="val 4000"/>
            </a:avLst>
          </a:prstGeom>
          <a:solidFill>
            <a:srgbClr val="1A4A7A"/>
          </a:solidFill>
        </p:spPr>
      </p:sp>
      <p:sp>
        <p:nvSpPr>
          <p:cNvPr id="20" name="Text 18"/>
          <p:cNvSpPr/>
          <p:nvPr/>
        </p:nvSpPr>
        <p:spPr>
          <a:xfrm>
            <a:off x="1003300" y="4525645"/>
            <a:ext cx="635000" cy="355600"/>
          </a:xfrm>
          <a:prstGeom prst="rect">
            <a:avLst/>
          </a:prstGeom>
          <a:noFill/>
        </p:spPr>
        <p:txBody>
          <a:bodyPr wrap="none" lIns="0" tIns="0" rIns="0" bIns="0" rtlCol="0" anchor="ctr"/>
          <a:lstStyle/>
          <a:p>
            <a:pPr>
              <a:lnSpc>
                <a:spcPct val="100000"/>
              </a:lnSpc>
            </a:pPr>
            <a:r>
              <a:rPr lang="en-US" sz="2800" dirty="0">
                <a:solidFill>
                  <a:srgbClr val="FFFFFF">
                    <a:alpha val="31373"/>
                  </a:srgbClr>
                </a:solidFill>
                <a:latin typeface="微软雅黑" panose="020B0503020204020204" pitchFamily="34" charset="-122"/>
                <a:ea typeface="微软雅黑" panose="020B0503020204020204" pitchFamily="34" charset="-122"/>
                <a:cs typeface="Quattrocento Sans" panose="020B0502050000020003" pitchFamily="34" charset="-120"/>
              </a:rPr>
              <a:t>03</a:t>
            </a:r>
          </a:p>
        </p:txBody>
      </p:sp>
      <p:sp>
        <p:nvSpPr>
          <p:cNvPr id="21" name="Text 19"/>
          <p:cNvSpPr/>
          <p:nvPr/>
        </p:nvSpPr>
        <p:spPr>
          <a:xfrm>
            <a:off x="1714500" y="4525645"/>
            <a:ext cx="6324600" cy="355600"/>
          </a:xfrm>
          <a:prstGeom prst="rect">
            <a:avLst/>
          </a:prstGeom>
          <a:noFill/>
        </p:spPr>
        <p:txBody>
          <a:bodyPr wrap="none" lIns="0" tIns="0" rIns="0" bIns="0" rtlCol="0" anchor="ctr"/>
          <a:lstStyle/>
          <a:p>
            <a:pPr>
              <a:lnSpc>
                <a:spcPct val="100000"/>
              </a:lnSpc>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课程规则 + 符号工具混合引擎</a:t>
            </a:r>
          </a:p>
        </p:txBody>
      </p:sp>
      <p:sp>
        <p:nvSpPr>
          <p:cNvPr id="22" name="Text 20"/>
          <p:cNvSpPr/>
          <p:nvPr/>
        </p:nvSpPr>
        <p:spPr>
          <a:xfrm>
            <a:off x="1003300" y="4932045"/>
            <a:ext cx="11017250" cy="812800"/>
          </a:xfrm>
          <a:prstGeom prst="rect">
            <a:avLst/>
          </a:prstGeom>
          <a:noFill/>
        </p:spPr>
        <p:txBody>
          <a:bodyPr wrap="square" lIns="0" tIns="0" rIns="0" bIns="0" rtlCol="0" anchor="ctr"/>
          <a:lstStyle/>
          <a:p>
            <a:pPr>
              <a:lnSpc>
                <a:spcPct val="150000"/>
              </a:lnSpc>
            </a:pPr>
            <a:r>
              <a:rPr lang="en-US"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课程规则保证分析</a:t>
            </a:r>
            <a:r>
              <a:rPr lang="en-US" b="1"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规范性</a:t>
            </a:r>
            <a:r>
              <a:rPr lang="en-US"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（符合教学要求），SymPy/Lcapy/SPICE 保证结果</a:t>
            </a:r>
            <a:r>
              <a:rPr lang="en-US" b="1"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可验证性</a:t>
            </a:r>
            <a:r>
              <a:rPr lang="en-US" dirty="0">
                <a:solidFill>
                  <a:srgbClr val="FFFFFF">
                    <a:alpha val="80000"/>
                  </a:srgbClr>
                </a:solidFill>
                <a:latin typeface="微软雅黑" panose="020B0503020204020204" pitchFamily="34" charset="-122"/>
                <a:ea typeface="微软雅黑" panose="020B0503020204020204" pitchFamily="34" charset="-122"/>
                <a:cs typeface="微软雅黑" panose="020B0503020204020204" pitchFamily="34" charset="-122"/>
              </a:rPr>
              <a:t>，双重保障。</a:t>
            </a:r>
          </a:p>
        </p:txBody>
      </p:sp>
      <p:sp>
        <p:nvSpPr>
          <p:cNvPr id="27" name="Shape 25"/>
          <p:cNvSpPr/>
          <p:nvPr/>
        </p:nvSpPr>
        <p:spPr>
          <a:xfrm>
            <a:off x="508000" y="6353175"/>
            <a:ext cx="15240000" cy="2212340"/>
          </a:xfrm>
          <a:prstGeom prst="roundRect">
            <a:avLst>
              <a:gd name="adj" fmla="val 4000"/>
            </a:avLst>
          </a:prstGeom>
          <a:solidFill>
            <a:srgbClr val="E3F0FA"/>
          </a:solidFill>
        </p:spPr>
      </p:sp>
      <p:sp>
        <p:nvSpPr>
          <p:cNvPr id="28" name="Text 26"/>
          <p:cNvSpPr/>
          <p:nvPr/>
        </p:nvSpPr>
        <p:spPr>
          <a:xfrm>
            <a:off x="762000" y="6581775"/>
            <a:ext cx="5080000" cy="355600"/>
          </a:xfrm>
          <a:prstGeom prst="rect">
            <a:avLst/>
          </a:prstGeom>
          <a:noFill/>
        </p:spPr>
        <p:txBody>
          <a:bodyPr wrap="none" lIns="0" tIns="0" rIns="0" bIns="0" rtlCol="0" anchor="ctr"/>
          <a:lstStyle/>
          <a:p>
            <a:pPr>
              <a:lnSpc>
                <a:spcPct val="100000"/>
              </a:lnSpc>
            </a:pPr>
            <a:r>
              <a:rPr lang="en-US" sz="2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创新点总结</a:t>
            </a:r>
          </a:p>
        </p:txBody>
      </p:sp>
      <p:sp>
        <p:nvSpPr>
          <p:cNvPr id="29" name="Text 27"/>
          <p:cNvSpPr/>
          <p:nvPr/>
        </p:nvSpPr>
        <p:spPr>
          <a:xfrm>
            <a:off x="762000" y="6937375"/>
            <a:ext cx="14732000" cy="1397000"/>
          </a:xfrm>
          <a:prstGeom prst="rect">
            <a:avLst/>
          </a:prstGeom>
          <a:noFill/>
        </p:spPr>
        <p:txBody>
          <a:bodyPr wrap="square" lIns="0" tIns="0" rIns="0" bIns="0" rtlCol="0" anchor="ctr"/>
          <a:lstStyle/>
          <a:p>
            <a:pPr>
              <a:lnSpc>
                <a:spcPct val="170000"/>
              </a:lnSpc>
            </a:pPr>
            <a:r>
              <a:rPr lang="zh-CN" altLang="en-US" sz="200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rPr>
              <a:t>本项目的三大创新点围绕一个核心目标：构建从题目照片到教学级分析报告的完整流程。通过半自动拓扑校正提高输入质量、课程规则与符号工具混合引擎保证分析规范性和可验证性，形成面向电路分析和模电学习的闭环辅助系统。</a:t>
            </a:r>
            <a:endParaRPr lang="zh-CN" altLang="en-US" sz="2000" dirty="0">
              <a:solidFill>
                <a:srgbClr val="2C2C2C"/>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30" name="Text 28"/>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12</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6096000" y="1778000"/>
            <a:ext cx="12700" cy="5588000"/>
          </a:xfrm>
          <a:prstGeom prst="rect">
            <a:avLst/>
          </a:prstGeom>
          <a:solidFill>
            <a:srgbClr val="E0E0E0"/>
          </a:solidFill>
        </p:spPr>
      </p:sp>
      <p:sp>
        <p:nvSpPr>
          <p:cNvPr id="4" name="Text 2"/>
          <p:cNvSpPr/>
          <p:nvPr/>
        </p:nvSpPr>
        <p:spPr>
          <a:xfrm>
            <a:off x="762000" y="2540000"/>
            <a:ext cx="4826000" cy="2540000"/>
          </a:xfrm>
          <a:prstGeom prst="rect">
            <a:avLst/>
          </a:prstGeom>
          <a:noFill/>
        </p:spPr>
        <p:txBody>
          <a:bodyPr wrap="none" lIns="0" tIns="0" rIns="0" bIns="0" rtlCol="0" anchor="ctr"/>
          <a:lstStyle/>
          <a:p>
            <a:pPr algn="ctr">
              <a:lnSpc>
                <a:spcPct val="100000"/>
              </a:lnSpc>
            </a:pPr>
            <a:r>
              <a:rPr lang="en-US" sz="120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05</a:t>
            </a:r>
          </a:p>
        </p:txBody>
      </p:sp>
      <p:sp>
        <p:nvSpPr>
          <p:cNvPr id="5" name="Text 3"/>
          <p:cNvSpPr/>
          <p:nvPr/>
        </p:nvSpPr>
        <p:spPr>
          <a:xfrm>
            <a:off x="762000" y="5080000"/>
            <a:ext cx="4826000" cy="355600"/>
          </a:xfrm>
          <a:prstGeom prst="rect">
            <a:avLst/>
          </a:prstGeom>
          <a:noFill/>
        </p:spPr>
        <p:txBody>
          <a:bodyPr wrap="none" lIns="0" tIns="0" rIns="0" bIns="0" rtlCol="0" anchor="ctr"/>
          <a:lstStyle/>
          <a:p>
            <a:pPr algn="ctr">
              <a:lnSpc>
                <a:spcPct val="100000"/>
              </a:lnSpc>
            </a:pPr>
            <a:r>
              <a:rPr lang="en-US" kern="0" spc="4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CHAPTER FIVE</a:t>
            </a:r>
          </a:p>
        </p:txBody>
      </p:sp>
      <p:sp>
        <p:nvSpPr>
          <p:cNvPr id="6" name="Text 4"/>
          <p:cNvSpPr/>
          <p:nvPr/>
        </p:nvSpPr>
        <p:spPr>
          <a:xfrm>
            <a:off x="6604000" y="2997200"/>
            <a:ext cx="8890000" cy="711200"/>
          </a:xfrm>
          <a:prstGeom prst="rect">
            <a:avLst/>
          </a:prstGeom>
          <a:noFill/>
        </p:spPr>
        <p:txBody>
          <a:bodyPr wrap="none" lIns="0" tIns="0" rIns="0" bIns="0" rtlCol="0" anchor="ctr"/>
          <a:lstStyle/>
          <a:p>
            <a:pPr>
              <a:lnSpc>
                <a:spcPct val="100000"/>
              </a:lnSpc>
            </a:pPr>
            <a:r>
              <a:rPr lang="zh-CN" altLang="en-US" sz="44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后续计划</a:t>
            </a:r>
            <a:endParaRPr lang="zh-CN" altLang="en-US" sz="44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7" name="Text 5"/>
          <p:cNvSpPr/>
          <p:nvPr/>
        </p:nvSpPr>
        <p:spPr>
          <a:xfrm>
            <a:off x="6604000" y="3835400"/>
            <a:ext cx="8890000" cy="355600"/>
          </a:xfrm>
          <a:prstGeom prst="rect">
            <a:avLst/>
          </a:prstGeom>
          <a:noFill/>
        </p:spPr>
        <p:txBody>
          <a:bodyPr wrap="none" lIns="0" tIns="0" rIns="0" bIns="0" rtlCol="0" anchor="ctr"/>
          <a:lstStyle/>
          <a:p>
            <a:pPr>
              <a:lnSpc>
                <a:spcPct val="100000"/>
              </a:lnSpc>
            </a:pPr>
            <a:r>
              <a:rPr lang="en-US" sz="240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rPr>
              <a:t>Future Plan</a:t>
            </a:r>
            <a:endParaRPr lang="en-US" sz="2400" dirty="0">
              <a:solidFill>
                <a:srgbClr val="AAAAA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8" name="Shape 6"/>
          <p:cNvSpPr/>
          <p:nvPr/>
        </p:nvSpPr>
        <p:spPr>
          <a:xfrm>
            <a:off x="6604000" y="4572000"/>
            <a:ext cx="4064000" cy="12700"/>
          </a:xfrm>
          <a:prstGeom prst="rect">
            <a:avLst/>
          </a:prstGeom>
          <a:solidFill>
            <a:srgbClr val="E0E0E0"/>
          </a:solidFill>
        </p:spPr>
      </p:sp>
      <p:sp>
        <p:nvSpPr>
          <p:cNvPr id="11" name="Text 9"/>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13</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0"/>
            <a:ext cx="16256000" cy="38100"/>
          </a:xfrm>
          <a:prstGeom prst="rect">
            <a:avLst/>
          </a:prstGeom>
          <a:solidFill>
            <a:srgbClr val="1A4A7A"/>
          </a:solidFill>
        </p:spPr>
      </p:sp>
      <p:sp>
        <p:nvSpPr>
          <p:cNvPr id="5" name="Text 3"/>
          <p:cNvSpPr/>
          <p:nvPr/>
        </p:nvSpPr>
        <p:spPr>
          <a:xfrm>
            <a:off x="508000" y="304800"/>
            <a:ext cx="10668000" cy="457200"/>
          </a:xfrm>
          <a:prstGeom prst="rect">
            <a:avLst/>
          </a:prstGeom>
          <a:noFill/>
        </p:spPr>
        <p:txBody>
          <a:bodyPr wrap="none" lIns="0" tIns="0" rIns="0" bIns="0" rtlCol="0" anchor="ctr"/>
          <a:lstStyle/>
          <a:p>
            <a:pPr>
              <a:lnSpc>
                <a:spcPct val="100000"/>
              </a:lnSpc>
            </a:pPr>
            <a:r>
              <a:rPr lang="zh-CN" altLang="en-US" sz="32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分层后续工作计划</a:t>
            </a:r>
            <a:endParaRPr lang="zh-CN" altLang="en-US" sz="3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6" name="Shape 4"/>
          <p:cNvSpPr/>
          <p:nvPr/>
        </p:nvSpPr>
        <p:spPr>
          <a:xfrm>
            <a:off x="508000" y="863600"/>
            <a:ext cx="15240000" cy="12700"/>
          </a:xfrm>
          <a:prstGeom prst="rect">
            <a:avLst/>
          </a:prstGeom>
          <a:solidFill>
            <a:srgbClr val="E0E0E0"/>
          </a:solidFill>
        </p:spPr>
      </p:sp>
      <p:graphicFrame>
        <p:nvGraphicFramePr>
          <p:cNvPr id="22" name="Table 0"/>
          <p:cNvGraphicFramePr>
            <a:graphicFrameLocks noGrp="1"/>
          </p:cNvGraphicFramePr>
          <p:nvPr>
            <p:custDataLst>
              <p:tags r:id="rId1"/>
            </p:custDataLst>
          </p:nvPr>
        </p:nvGraphicFramePr>
        <p:xfrm>
          <a:off x="508000" y="1371600"/>
          <a:ext cx="14986635" cy="4681220"/>
        </p:xfrm>
        <a:graphic>
          <a:graphicData uri="http://schemas.openxmlformats.org/drawingml/2006/table">
            <a:tbl>
              <a:tblPr/>
              <a:tblGrid>
                <a:gridCol w="2248535">
                  <a:extLst>
                    <a:ext uri="{9D8B030D-6E8A-4147-A177-3AD203B41FA5}">
                      <a16:colId xmlns:a16="http://schemas.microsoft.com/office/drawing/2014/main" val="20000"/>
                    </a:ext>
                  </a:extLst>
                </a:gridCol>
                <a:gridCol w="8855075">
                  <a:extLst>
                    <a:ext uri="{9D8B030D-6E8A-4147-A177-3AD203B41FA5}">
                      <a16:colId xmlns:a16="http://schemas.microsoft.com/office/drawing/2014/main" val="20001"/>
                    </a:ext>
                  </a:extLst>
                </a:gridCol>
                <a:gridCol w="2409825">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tblGrid>
              <a:tr h="787400">
                <a:tc>
                  <a:txBody>
                    <a:bodyPr/>
                    <a:lstStyle/>
                    <a:p>
                      <a:pPr algn="l"/>
                      <a:r>
                        <a:rPr lang="zh-CN" altLang="en-US" sz="2000" b="1" u="none">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层级</a:t>
                      </a:r>
                      <a:endParaRPr lang="zh-CN" alt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l"/>
                      <a:r>
                        <a:rPr lang="zh-CN" altLang="en-US" sz="2000" b="1" u="none">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工作重点</a:t>
                      </a:r>
                      <a:endParaRPr lang="zh-CN" alt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l"/>
                      <a:r>
                        <a:rPr lang="zh-CN" altLang="en-US" sz="2000" b="1" u="none">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时间</a:t>
                      </a:r>
                      <a:endParaRPr lang="zh-CN" alt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l"/>
                      <a:r>
                        <a:rPr lang="zh-CN" altLang="en-US" sz="2000" b="1" u="none">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状态</a:t>
                      </a:r>
                      <a:endParaRPr lang="zh-CN" altLang="en-US" sz="2000" b="1" u="non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1028700">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数据层</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algn="l" fontAlgn="auto">
                        <a:lnSpc>
                          <a:spcPct val="125000"/>
                        </a:lnSpc>
                      </a:pP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完成类型化电路图 </a:t>
                      </a:r>
                      <a:r>
                        <a:rPr lang="en-US" altLang="zh-CN"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Schema</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、元件库、</a:t>
                      </a:r>
                      <a:r>
                        <a:rPr lang="en-US" altLang="zh-CN"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benchmark </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样例与采集规范，沉淀可复现数据标准</a:t>
                      </a:r>
                      <a:endParaRPr lang="zh-CN" altLang="en-US" sz="19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2026.6-8</a:t>
                      </a:r>
                      <a:endPar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zh-CN" altLang="en-US" sz="2000" u="none">
                          <a:solidFill>
                            <a:srgbClr val="34A853"/>
                          </a:solidFill>
                          <a:latin typeface="微软雅黑" panose="020B0503020204020204" pitchFamily="34" charset="-122"/>
                          <a:ea typeface="微软雅黑" panose="020B0503020204020204" pitchFamily="34" charset="-122"/>
                          <a:cs typeface="微软雅黑" panose="020B0503020204020204" pitchFamily="34" charset="-120"/>
                        </a:rPr>
                        <a:t>规划中</a:t>
                      </a:r>
                      <a:endParaRPr lang="zh-CN" altLang="en-US" sz="2000" u="none" dirty="0">
                        <a:solidFill>
                          <a:srgbClr val="34A853"/>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8700">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图像处理层</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indent="0" algn="l" fontAlgn="auto">
                        <a:lnSpc>
                          <a:spcPct val="125000"/>
                        </a:lnSpc>
                      </a:pPr>
                      <a:r>
                        <a:rPr lang="en-US" altLang="zh-CN"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OpenCV </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预处理、元件</a:t>
                      </a:r>
                      <a:r>
                        <a:rPr lang="en-US" altLang="zh-CN"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/OCR </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识别、候选拓扑与置信度标注</a:t>
                      </a:r>
                      <a:endParaRPr lang="zh-CN" altLang="en-US" sz="19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r>
                        <a:rPr 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2026.9-12</a:t>
                      </a:r>
                      <a:endPar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r>
                        <a:rPr lang="zh-CN" altLang="en-US" sz="2000" u="none">
                          <a:solidFill>
                            <a:srgbClr val="2E86C1"/>
                          </a:solidFill>
                          <a:latin typeface="微软雅黑" panose="020B0503020204020204" pitchFamily="34" charset="-122"/>
                          <a:ea typeface="微软雅黑" panose="020B0503020204020204" pitchFamily="34" charset="-122"/>
                          <a:cs typeface="微软雅黑" panose="020B0503020204020204" pitchFamily="34" charset="-120"/>
                        </a:rPr>
                        <a:t>待推进</a:t>
                      </a:r>
                      <a:endParaRPr lang="zh-CN" altLang="en-US" sz="2000" u="none" dirty="0">
                        <a:solidFill>
                          <a:srgbClr val="2E86C1"/>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029335">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分析引擎层</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algn="l" fontAlgn="auto">
                        <a:lnSpc>
                          <a:spcPct val="125000"/>
                        </a:lnSpc>
                      </a:pP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构建题型策略、课程规则、</a:t>
                      </a:r>
                      <a:r>
                        <a:rPr 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SymPy/Lcapy/SPICE </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校验和 </a:t>
                      </a:r>
                      <a:r>
                        <a:rPr 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LaTeX </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推导输出</a:t>
                      </a:r>
                      <a:endParaRPr lang="zh-CN" altLang="en-US" sz="19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2026.12-2027.</a:t>
                      </a:r>
                      <a:r>
                        <a:rPr lang="en-US" altLang="zh-CN"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altLang="zh-CN"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待推进</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7085">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展示层</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indent="0" algn="l" fontAlgn="auto">
                        <a:lnSpc>
                          <a:spcPct val="125000"/>
                        </a:lnSpc>
                      </a:pP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制作电路编辑器、等效电路展示、步骤解释、报告导出和手机</a:t>
                      </a:r>
                      <a:r>
                        <a:rPr lang="en-US" altLang="zh-CN"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9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电脑联动体验</a:t>
                      </a:r>
                      <a:endParaRPr lang="zh-CN" altLang="en-US" sz="19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r>
                        <a:rPr 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2027.2-4</a:t>
                      </a:r>
                      <a:endParaRPr 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l"/>
                      <a:r>
                        <a:rPr lang="zh-CN" altLang="en-US" sz="2000" u="none">
                          <a:solidFill>
                            <a:srgbClr val="2C2C2C"/>
                          </a:solidFill>
                          <a:latin typeface="微软雅黑" panose="020B0503020204020204" pitchFamily="34" charset="-122"/>
                          <a:ea typeface="微软雅黑" panose="020B0503020204020204" pitchFamily="34" charset="-122"/>
                          <a:cs typeface="微软雅黑" panose="020B0503020204020204" pitchFamily="34" charset="-120"/>
                        </a:rPr>
                        <a:t>待推进</a:t>
                      </a:r>
                      <a:endParaRPr lang="zh-CN" altLang="en-US" sz="2000" u="none"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0"/>
                      </a:endParaRPr>
                    </a:p>
                  </a:txBody>
                  <a:tcPr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31" name="Shape 28"/>
          <p:cNvSpPr/>
          <p:nvPr/>
        </p:nvSpPr>
        <p:spPr>
          <a:xfrm>
            <a:off x="508000" y="6420485"/>
            <a:ext cx="15240000" cy="1524000"/>
          </a:xfrm>
          <a:prstGeom prst="roundRect">
            <a:avLst>
              <a:gd name="adj" fmla="val 4000"/>
            </a:avLst>
          </a:prstGeom>
          <a:solidFill>
            <a:srgbClr val="E3F0FA"/>
          </a:solidFill>
        </p:spPr>
      </p:sp>
      <p:sp>
        <p:nvSpPr>
          <p:cNvPr id="32" name="Text 29"/>
          <p:cNvSpPr/>
          <p:nvPr/>
        </p:nvSpPr>
        <p:spPr>
          <a:xfrm>
            <a:off x="762000" y="6649085"/>
            <a:ext cx="2540000" cy="279400"/>
          </a:xfrm>
          <a:prstGeom prst="rect">
            <a:avLst/>
          </a:prstGeom>
          <a:noFill/>
        </p:spPr>
        <p:txBody>
          <a:bodyPr wrap="none" lIns="0" tIns="0" rIns="0" bIns="0" rtlCol="0" anchor="ctr"/>
          <a:lstStyle/>
          <a:p>
            <a:pPr>
              <a:lnSpc>
                <a:spcPct val="100000"/>
              </a:lnSpc>
            </a:pPr>
            <a:r>
              <a:rPr lang="zh-CN" altLang="en-US" sz="2800" b="1">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计划主线</a:t>
            </a:r>
            <a:endParaRPr lang="zh-CN" altLang="en-US" sz="28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endParaRPr>
          </a:p>
        </p:txBody>
      </p:sp>
      <p:sp>
        <p:nvSpPr>
          <p:cNvPr id="33" name="Text 30"/>
          <p:cNvSpPr/>
          <p:nvPr/>
        </p:nvSpPr>
        <p:spPr>
          <a:xfrm>
            <a:off x="762000" y="7055485"/>
            <a:ext cx="14732000" cy="558800"/>
          </a:xfrm>
          <a:prstGeom prst="rect">
            <a:avLst/>
          </a:prstGeom>
          <a:noFill/>
        </p:spPr>
        <p:txBody>
          <a:bodyPr wrap="square" lIns="0" tIns="0" rIns="0" bIns="0" rtlCol="0" anchor="ctr"/>
          <a:lstStyle/>
          <a:p>
            <a:pPr>
              <a:lnSpc>
                <a:spcPct val="150000"/>
              </a:lnSpc>
            </a:pPr>
            <a:endParaRPr lang="zh-CN" altLang="en-US" sz="2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Text 31"/>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5B9BD5"/>
                </a:solidFill>
                <a:latin typeface="Quattrocento Sans" panose="020B0502050000020003" pitchFamily="34" charset="0"/>
                <a:ea typeface="Quattrocento Sans" panose="020B0502050000020003" pitchFamily="34" charset="-122"/>
                <a:cs typeface="Quattrocento Sans" panose="020B0502050000020003" pitchFamily="34" charset="-120"/>
              </a:rPr>
              <a:t>14</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p:spPr>
      </p:sp>
      <p:sp>
        <p:nvSpPr>
          <p:cNvPr id="3" name="Shape 1"/>
          <p:cNvSpPr/>
          <p:nvPr/>
        </p:nvSpPr>
        <p:spPr>
          <a:xfrm>
            <a:off x="0" y="4965700"/>
            <a:ext cx="16256000" cy="4064000"/>
          </a:xfrm>
          <a:prstGeom prst="rect">
            <a:avLst/>
          </a:prstGeom>
          <a:solidFill>
            <a:srgbClr val="1A4A7A"/>
          </a:solidFill>
        </p:spPr>
      </p:sp>
      <p:sp>
        <p:nvSpPr>
          <p:cNvPr id="5" name="Text 2"/>
          <p:cNvSpPr/>
          <p:nvPr/>
        </p:nvSpPr>
        <p:spPr>
          <a:xfrm>
            <a:off x="1016000" y="1778000"/>
            <a:ext cx="13970000" cy="1219200"/>
          </a:xfrm>
          <a:prstGeom prst="rect">
            <a:avLst/>
          </a:prstGeom>
          <a:noFill/>
        </p:spPr>
        <p:txBody>
          <a:bodyPr wrap="none" lIns="0" tIns="0" rIns="0" bIns="0" rtlCol="0" anchor="ctr"/>
          <a:lstStyle/>
          <a:p>
            <a:pPr>
              <a:lnSpc>
                <a:spcPct val="100000"/>
              </a:lnSpc>
            </a:pPr>
            <a:r>
              <a:rPr lang="zh-CN" altLang="en-US" sz="7200" b="1" dirty="0">
                <a:solidFill>
                  <a:srgbClr val="1A4A7A"/>
                </a:solidFill>
                <a:latin typeface="微软雅黑" panose="020B0503020204020204" pitchFamily="34" charset="-122"/>
                <a:ea typeface="微软雅黑" panose="020B0503020204020204" pitchFamily="34" charset="-122"/>
                <a:cs typeface="Quattrocento Sans" panose="020B0502050000020003" pitchFamily="34" charset="-120"/>
              </a:rPr>
              <a:t>敬请各位老师批评指正</a:t>
            </a:r>
          </a:p>
        </p:txBody>
      </p:sp>
      <p:sp>
        <p:nvSpPr>
          <p:cNvPr id="6" name="Text 3"/>
          <p:cNvSpPr/>
          <p:nvPr/>
        </p:nvSpPr>
        <p:spPr>
          <a:xfrm>
            <a:off x="1016000" y="3048000"/>
            <a:ext cx="11430000" cy="406400"/>
          </a:xfrm>
          <a:prstGeom prst="rect">
            <a:avLst/>
          </a:prstGeom>
          <a:noFill/>
        </p:spPr>
        <p:txBody>
          <a:bodyPr wrap="none" lIns="0" tIns="0" rIns="0" bIns="0" rtlCol="0" anchor="ctr"/>
          <a:lstStyle/>
          <a:p>
            <a:pPr>
              <a:lnSpc>
                <a:spcPct val="100000"/>
              </a:lnSpc>
            </a:pPr>
            <a:r>
              <a:rPr lang="en-US" sz="2000" kern="0" spc="500" dirty="0">
                <a:solidFill>
                  <a:srgbClr val="5B9BD5"/>
                </a:solidFill>
                <a:latin typeface="微软雅黑" panose="020B0503020204020204" pitchFamily="34" charset="-122"/>
                <a:ea typeface="微软雅黑" panose="020B0503020204020204" pitchFamily="34" charset="-122"/>
                <a:cs typeface="Quattrocento Sans" panose="020B0502050000020003" pitchFamily="34" charset="-120"/>
              </a:rPr>
              <a:t>THANK YOU FOR YOUR ATTENTION</a:t>
            </a:r>
          </a:p>
        </p:txBody>
      </p:sp>
      <p:sp>
        <p:nvSpPr>
          <p:cNvPr id="7" name="Shape 4"/>
          <p:cNvSpPr/>
          <p:nvPr/>
        </p:nvSpPr>
        <p:spPr>
          <a:xfrm>
            <a:off x="1016000" y="3683000"/>
            <a:ext cx="14224000" cy="12700"/>
          </a:xfrm>
          <a:prstGeom prst="rect">
            <a:avLst/>
          </a:prstGeom>
          <a:solidFill>
            <a:srgbClr val="E0E0E0"/>
          </a:solidFill>
        </p:spPr>
      </p:sp>
      <p:sp>
        <p:nvSpPr>
          <p:cNvPr id="8" name="Text 5"/>
          <p:cNvSpPr/>
          <p:nvPr/>
        </p:nvSpPr>
        <p:spPr>
          <a:xfrm>
            <a:off x="1016000" y="3911600"/>
            <a:ext cx="8890000" cy="381000"/>
          </a:xfrm>
          <a:prstGeom prst="rect">
            <a:avLst/>
          </a:prstGeom>
          <a:noFill/>
        </p:spPr>
        <p:txBody>
          <a:bodyPr wrap="none" lIns="0" tIns="0" rIns="0" bIns="0" rtlCol="0" anchor="ctr"/>
          <a:lstStyle/>
          <a:p>
            <a:pPr>
              <a:lnSpc>
                <a:spcPct val="100000"/>
              </a:lnSpc>
            </a:pPr>
            <a:r>
              <a:rPr lang="en-US" sz="2000" dirty="0">
                <a:solidFill>
                  <a:srgbClr val="1A4A7A"/>
                </a:solidFill>
                <a:latin typeface="微软雅黑" panose="020B0503020204020204" pitchFamily="34" charset="-122"/>
                <a:ea typeface="微软雅黑" panose="020B0503020204020204" pitchFamily="34" charset="-122"/>
                <a:cs typeface="微软雅黑" panose="020B0503020204020204" pitchFamily="34" charset="-122"/>
              </a:rPr>
              <a:t>|　北京交通大学 · 电子信息工程学院</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6"/>
          <p:cNvSpPr/>
          <p:nvPr/>
        </p:nvSpPr>
        <p:spPr>
          <a:xfrm>
            <a:off x="1016000" y="4386580"/>
            <a:ext cx="7620000" cy="330200"/>
          </a:xfrm>
          <a:prstGeom prst="rect">
            <a:avLst/>
          </a:prstGeom>
          <a:noFill/>
        </p:spPr>
        <p:txBody>
          <a:bodyPr wrap="none" lIns="0" tIns="0" rIns="0" bIns="0" rtlCol="0" anchor="ctr"/>
          <a:lstStyle/>
          <a:p>
            <a:pPr>
              <a:lnSpc>
                <a:spcPct val="100000"/>
              </a:lnSpc>
            </a:pPr>
            <a:r>
              <a:rPr lang="en-US" sz="2000" dirty="0" err="1">
                <a:solidFill>
                  <a:srgbClr val="666666"/>
                </a:solidFill>
                <a:latin typeface="微软雅黑" panose="020B0503020204020204" pitchFamily="34" charset="-122"/>
                <a:ea typeface="微软雅黑" panose="020B0503020204020204" pitchFamily="34" charset="-122"/>
                <a:cs typeface="微软雅黑" panose="020B0503020204020204" pitchFamily="34" charset="-122"/>
              </a:rPr>
              <a:t>指导教师</a:t>
            </a:r>
            <a:r>
              <a:rPr lang="en-US" sz="2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2"/>
              </a:rPr>
              <a:t>陈一帅</a:t>
            </a:r>
            <a:r>
              <a:rPr lang="en-US" sz="20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2"/>
              </a:rPr>
              <a:t> 教授</a:t>
            </a:r>
          </a:p>
        </p:txBody>
      </p:sp>
      <p:sp>
        <p:nvSpPr>
          <p:cNvPr id="13" name="Text 10"/>
          <p:cNvSpPr/>
          <p:nvPr/>
        </p:nvSpPr>
        <p:spPr>
          <a:xfrm>
            <a:off x="15240000" y="8636000"/>
            <a:ext cx="635000" cy="304800"/>
          </a:xfrm>
          <a:prstGeom prst="rect">
            <a:avLst/>
          </a:prstGeom>
          <a:noFill/>
        </p:spPr>
        <p:txBody>
          <a:bodyPr wrap="none" lIns="0" tIns="0" rIns="0" bIns="0" rtlCol="0" anchor="ctr"/>
          <a:lstStyle/>
          <a:p>
            <a:pPr algn="r">
              <a:lnSpc>
                <a:spcPct val="100000"/>
              </a:lnSpc>
            </a:pPr>
            <a:r>
              <a:rPr lang="en-US" sz="1400">
                <a:solidFill>
                  <a:srgbClr val="FFFFFF">
                    <a:alpha val="53333"/>
                  </a:srgbClr>
                </a:solidFill>
                <a:latin typeface="Quattrocento Sans" panose="020B0502050000020003" pitchFamily="34" charset="0"/>
                <a:ea typeface="Quattrocento Sans" panose="020B0502050000020003" pitchFamily="34" charset="-122"/>
                <a:cs typeface="Quattrocento Sans" panose="020B0502050000020003" pitchFamily="34" charset="-120"/>
              </a:rPr>
              <a:t>15</a:t>
            </a:r>
            <a:endParaRPr lang="en-US" sz="1600" dirty="0"/>
          </a:p>
        </p:txBody>
      </p:sp>
      <p:pic>
        <p:nvPicPr>
          <p:cNvPr id="95" name="图片 94"/>
          <p:cNvPicPr>
            <a:picLocks noChangeAspect="1"/>
          </p:cNvPicPr>
          <p:nvPr/>
        </p:nvPicPr>
        <p:blipFill>
          <a:blip r:embed="rId3" cstate="print">
            <a:extLst>
              <a:ext uri="{28A0092B-C50C-407E-A947-70E740481C1C}">
                <a14:useLocalDpi xmlns:a14="http://schemas.microsoft.com/office/drawing/2010/main" val="0"/>
              </a:ext>
            </a:extLst>
          </a:blip>
          <a:srcRect t="33889" b="33027"/>
          <a:stretch>
            <a:fillRect/>
          </a:stretch>
        </p:blipFill>
        <p:spPr>
          <a:xfrm>
            <a:off x="11417935" y="52070"/>
            <a:ext cx="4653280" cy="1540510"/>
          </a:xfrm>
          <a:prstGeom prst="rect">
            <a:avLst/>
          </a:prstGeom>
        </p:spPr>
      </p:pic>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79*452"/>
  <p:tag name="TABLE_ENDDRAG_RECT" val="40*108*579*45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1180*368"/>
  <p:tag name="TABLE_ENDDRAG_RECT" val="40*108*1180*368"/>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776</Words>
  <Application>Microsoft Office PowerPoint</Application>
  <PresentationFormat>自定义</PresentationFormat>
  <Paragraphs>177</Paragraphs>
  <Slides>14</Slides>
  <Notes>14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Quattrocento Sans</vt:lpstr>
      <vt:lpstr>Arial</vt:lpstr>
      <vt:lpstr>微软雅黑</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基于视觉识别与符号推理的电路智能分析与教学辅助系统</dc:title>
  <dc:subject>基于视觉识别与符号推理的电路智能分析与教学辅助系统</dc:subject>
  <dc:creator>Kimi</dc:creator>
  <cp:lastModifiedBy>zihan wang</cp:lastModifiedBy>
  <cp:revision>20</cp:revision>
  <dcterms:created xsi:type="dcterms:W3CDTF">2026-06-08T17:24:00Z</dcterms:created>
  <dcterms:modified xsi:type="dcterms:W3CDTF">2026-06-12T09:31:14Z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基于视觉识别与符号推理的电路智能分析与教学辅助系统","ContentProducer":"001191110108MACG2KBH8F10000","ProduceID":"19ea840c-c652-8bc4-8000-0000a851eb06","ReservedCode1":"","ContentPropagator":"001191110108MACG2KBH8F20000","PropagateID":"19ea840c-c652-8bc4-8000-0000a851eb06","ReservedCode2":""}</vt:lpwstr>
  </property>
  <property fmtid="{D5CDD505-2E9C-101B-9397-08002B2CF9AE}" pid="3" name="KSOProductBuildVer">
    <vt:lpwstr>2052-12.1.0.26895</vt:lpwstr>
  </property>
  <property fmtid="{D5CDD505-2E9C-101B-9397-08002B2CF9AE}" pid="4" name="ICV">
    <vt:lpwstr>49C4B93715DB48348C01DD67338ED4D5_13</vt:lpwstr>
  </property>
</Properties>
</file>